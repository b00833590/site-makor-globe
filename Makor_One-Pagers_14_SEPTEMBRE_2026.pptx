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  <p:sldId id="257" r:id="rId8"/>
    <p:sldId id="258" r:id="rId9"/>
    <p:sldId id="259" r:id="rId10"/>
    <p:sldId id="260" r:id="rId11"/>
  </p:sldIdLst>
  <p:sldSz cx="12192000" cy="6858000"/>
  <p:notesSz cx="6742113" cy="98758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13763062933092"/>
          <c:y val="5.6708073979477927E-2"/>
          <c:w val="0.80419804134059003"/>
          <c:h val="0.75579538655259559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12-Month Target</c:v>
                </c:pt>
              </c:strCache>
            </c:strRef>
          </c:tx>
          <c:spPr>
            <a:solidFill>
              <a:srgbClr val="1F2A44"/>
            </a:solidFill>
            <a:effectLst/>
          </c:spPr>
          <c:invertIfNegative val="0"/>
          <c:dLbls>
            <c:numFmt formatCode="&quot;$&quot;0.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Bear (-6%)</c:v>
                </c:pt>
                <c:pt idx="1">
                  <c:v>Base (+24.5%)</c:v>
                </c:pt>
                <c:pt idx="2">
                  <c:v>Bull (+52.5%)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24.9</c:v>
                </c:pt>
                <c:pt idx="1">
                  <c:v>33</c:v>
                </c:pt>
                <c:pt idx="2">
                  <c:v>40.4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D2-4A48-9309-26991F593EB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626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5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
              <a:solidFill>
                <a:srgbClr val="262626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6393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79763" tIns="39882" rIns="79763" bIns="3988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79763" tIns="39882" rIns="79763" bIns="39882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35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82" indent="-342882" algn="l" defTabSz="91435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13" indent="-285737" algn="l" defTabSz="91435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hart" Target="../charts/chart1.xml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355735" y="874367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Acter Group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409275" y="1368143"/>
            <a:ext cx="11457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1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5536.TWO · Taiwan — technical general contractor for semiconductor cleanrooms. </a:t>
            </a:r>
            <a:r>
              <a:rPr lang="en-US" sz="95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Designs, integrates and delivers the critical infrastructure (air, gas, power, ultra-pure water) of semiconductor and high-tech fabs — directly exposed to the AI capex cycle, with a record order backlog.</a:t>
            </a:r>
            <a:endParaRPr lang="en-US" sz="951" dirty="0"/>
          </a:p>
        </p:txBody>
      </p:sp>
      <p:sp>
        <p:nvSpPr>
          <p:cNvPr id="9" name="Text 7"/>
          <p:cNvSpPr txBox="1"/>
          <p:nvPr/>
        </p:nvSpPr>
        <p:spPr>
          <a:xfrm>
            <a:off x="514186" y="1784080"/>
            <a:ext cx="15063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1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$1.31bn</a:t>
            </a:r>
            <a:endParaRPr lang="en-US" sz="1351" dirty="0"/>
          </a:p>
        </p:txBody>
      </p:sp>
      <p:sp>
        <p:nvSpPr>
          <p:cNvPr id="10" name="Text 8"/>
          <p:cNvSpPr txBox="1"/>
          <p:nvPr/>
        </p:nvSpPr>
        <p:spPr>
          <a:xfrm>
            <a:off x="514187" y="2040112"/>
            <a:ext cx="17724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FY25 revenue (+37%)</a:t>
            </a:r>
            <a:endParaRPr lang="en-US" sz="751" dirty="0"/>
          </a:p>
        </p:txBody>
      </p:sp>
      <p:sp>
        <p:nvSpPr>
          <p:cNvPr id="11" name="Shape 9"/>
          <p:cNvSpPr/>
          <p:nvPr/>
        </p:nvSpPr>
        <p:spPr>
          <a:xfrm>
            <a:off x="2087796" y="1848968"/>
            <a:ext cx="0" cy="36576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2189264" y="1775816"/>
            <a:ext cx="1772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1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~$2.6bn e.</a:t>
            </a:r>
            <a:endParaRPr lang="en-US" sz="1351" dirty="0"/>
          </a:p>
        </p:txBody>
      </p:sp>
      <p:sp>
        <p:nvSpPr>
          <p:cNvPr id="13" name="Text 11"/>
          <p:cNvSpPr txBox="1"/>
          <p:nvPr/>
        </p:nvSpPr>
        <p:spPr>
          <a:xfrm>
            <a:off x="2189264" y="2031848"/>
            <a:ext cx="17724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value</a:t>
            </a:r>
            <a:endParaRPr lang="en-US" sz="751" dirty="0"/>
          </a:p>
        </p:txBody>
      </p:sp>
      <p:sp>
        <p:nvSpPr>
          <p:cNvPr id="14" name="Shape 12"/>
          <p:cNvSpPr/>
          <p:nvPr/>
        </p:nvSpPr>
        <p:spPr>
          <a:xfrm>
            <a:off x="3758742" y="1848968"/>
            <a:ext cx="0" cy="36576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 txBox="1"/>
          <p:nvPr/>
        </p:nvSpPr>
        <p:spPr>
          <a:xfrm>
            <a:off x="3860208" y="1775816"/>
            <a:ext cx="1772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1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cash ~$0.4bn</a:t>
            </a:r>
            <a:endParaRPr lang="en-US" sz="1351" dirty="0"/>
          </a:p>
        </p:txBody>
      </p:sp>
      <p:sp>
        <p:nvSpPr>
          <p:cNvPr id="16" name="Text 14"/>
          <p:cNvSpPr txBox="1"/>
          <p:nvPr/>
        </p:nvSpPr>
        <p:spPr>
          <a:xfrm>
            <a:off x="3860208" y="2031848"/>
            <a:ext cx="17724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debt · leverage</a:t>
            </a:r>
            <a:endParaRPr lang="en-US" sz="751" dirty="0"/>
          </a:p>
        </p:txBody>
      </p:sp>
      <p:sp>
        <p:nvSpPr>
          <p:cNvPr id="17" name="Shape 15"/>
          <p:cNvSpPr/>
          <p:nvPr/>
        </p:nvSpPr>
        <p:spPr>
          <a:xfrm>
            <a:off x="5558992" y="1835576"/>
            <a:ext cx="0" cy="36576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5734087" y="1775816"/>
            <a:ext cx="1772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1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~13.5x e.</a:t>
            </a:r>
            <a:endParaRPr lang="en-US" sz="1351" dirty="0"/>
          </a:p>
        </p:txBody>
      </p:sp>
      <p:sp>
        <p:nvSpPr>
          <p:cNvPr id="19" name="Text 17"/>
          <p:cNvSpPr txBox="1"/>
          <p:nvPr/>
        </p:nvSpPr>
        <p:spPr>
          <a:xfrm>
            <a:off x="5734087" y="2031848"/>
            <a:ext cx="17724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EV/EBITDA</a:t>
            </a:r>
            <a:endParaRPr lang="en-US" sz="751" dirty="0"/>
          </a:p>
        </p:txBody>
      </p:sp>
      <p:sp>
        <p:nvSpPr>
          <p:cNvPr id="20" name="Shape 18"/>
          <p:cNvSpPr/>
          <p:nvPr/>
        </p:nvSpPr>
        <p:spPr>
          <a:xfrm>
            <a:off x="7297830" y="1848968"/>
            <a:ext cx="0" cy="36576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 txBox="1"/>
          <p:nvPr/>
        </p:nvSpPr>
        <p:spPr>
          <a:xfrm>
            <a:off x="7399296" y="1775816"/>
            <a:ext cx="1772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1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$1.6bn</a:t>
            </a:r>
            <a:endParaRPr lang="en-US" sz="1351" dirty="0"/>
          </a:p>
        </p:txBody>
      </p:sp>
      <p:sp>
        <p:nvSpPr>
          <p:cNvPr id="22" name="Text 20"/>
          <p:cNvSpPr txBox="1"/>
          <p:nvPr/>
        </p:nvSpPr>
        <p:spPr>
          <a:xfrm>
            <a:off x="7399296" y="2031848"/>
            <a:ext cx="17724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backlog (record)</a:t>
            </a:r>
            <a:endParaRPr lang="en-US" sz="751" dirty="0"/>
          </a:p>
        </p:txBody>
      </p:sp>
      <p:sp>
        <p:nvSpPr>
          <p:cNvPr id="23" name="Shape 21"/>
          <p:cNvSpPr/>
          <p:nvPr/>
        </p:nvSpPr>
        <p:spPr>
          <a:xfrm>
            <a:off x="8963041" y="1838944"/>
            <a:ext cx="0" cy="36576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 txBox="1"/>
          <p:nvPr/>
        </p:nvSpPr>
        <p:spPr>
          <a:xfrm>
            <a:off x="9064508" y="1765792"/>
            <a:ext cx="1772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1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~2.4% e.</a:t>
            </a:r>
            <a:endParaRPr lang="en-US" sz="1351" dirty="0"/>
          </a:p>
        </p:txBody>
      </p:sp>
      <p:sp>
        <p:nvSpPr>
          <p:cNvPr id="25" name="Text 23"/>
          <p:cNvSpPr txBox="1"/>
          <p:nvPr/>
        </p:nvSpPr>
        <p:spPr>
          <a:xfrm>
            <a:off x="9064508" y="2021824"/>
            <a:ext cx="17724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</a:t>
            </a:r>
            <a:endParaRPr lang="en-US" sz="751" dirty="0"/>
          </a:p>
        </p:txBody>
      </p:sp>
      <p:sp>
        <p:nvSpPr>
          <p:cNvPr id="26" name="Shape 24"/>
          <p:cNvSpPr/>
          <p:nvPr/>
        </p:nvSpPr>
        <p:spPr>
          <a:xfrm>
            <a:off x="365760" y="2239798"/>
            <a:ext cx="11457432" cy="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396200" y="2390434"/>
            <a:ext cx="5029200" cy="237744"/>
          </a:xfrm>
          <a:prstGeom prst="rect">
            <a:avLst/>
          </a:prstGeom>
          <a:solidFill>
            <a:srgbClr val="1F2A44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28" name="Text 26"/>
          <p:cNvSpPr txBox="1"/>
          <p:nvPr/>
        </p:nvSpPr>
        <p:spPr>
          <a:xfrm>
            <a:off x="365760" y="239625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51" b="1" kern="0" spc="15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&amp; GROWTH DRIVERS</a:t>
            </a:r>
            <a:endParaRPr lang="en-US" sz="951" dirty="0"/>
          </a:p>
        </p:txBody>
      </p:sp>
      <p:sp>
        <p:nvSpPr>
          <p:cNvPr id="29" name="Text 27"/>
          <p:cNvSpPr txBox="1"/>
          <p:nvPr/>
        </p:nvSpPr>
        <p:spPr>
          <a:xfrm>
            <a:off x="365760" y="270267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 ·  FY25 REVENUE &amp; BACKLOG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429328" y="3018048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294" indent="-114294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general contractor </a:t>
            </a:r>
            <a:r>
              <a:rPr lang="en-US" sz="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cleanrooms &amp; critical utilities for semiconductor fabs</a:t>
            </a:r>
            <a:endParaRPr lang="en-US" sz="900" dirty="0"/>
          </a:p>
          <a:p>
            <a:pPr marL="114294" indent="-114294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exposure </a:t>
            </a:r>
            <a:r>
              <a:rPr lang="en-US" sz="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to clients' AI / semiconductor capex cycle</a:t>
            </a:r>
            <a:endParaRPr lang="en-US" sz="900" dirty="0"/>
          </a:p>
          <a:p>
            <a:pPr marL="114294" indent="-114294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FY25 revenue </a:t>
            </a: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($1.31bn, +37%) </a:t>
            </a:r>
            <a:r>
              <a:rPr lang="en-US" sz="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13.8% operating margin; $1.6bn record backlog (12-18 months visibility)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397544" y="391388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GROWTH DRIVERS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380308" y="4145346"/>
            <a:ext cx="50609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294" indent="-114294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integration: </a:t>
            </a:r>
            <a:r>
              <a:rPr lang="en-US" sz="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Acter + NOVA (chemicals) + RayZher (gas) → more value captured per project</a:t>
            </a:r>
            <a:endParaRPr lang="en-US" sz="900" dirty="0"/>
          </a:p>
          <a:p>
            <a:pPr marL="114294" indent="-114294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Suzhou </a:t>
            </a:r>
            <a:r>
              <a:rPr lang="en-US" sz="900" b="1" dirty="0" err="1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Guanli</a:t>
            </a:r>
            <a:r>
              <a:rPr lang="en-US" sz="9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ChiNext IPO accepted 30/06/26, targeting ~$210m raise (RMB1.5bn); #1 in China's semiconductor high-purity chemical delivery systems (48.1% indirectly owned)</a:t>
            </a:r>
            <a:endParaRPr lang="en-US" sz="900" dirty="0"/>
          </a:p>
          <a:p>
            <a:pPr marL="114294" indent="-114294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International: </a:t>
            </a:r>
            <a:r>
              <a:rPr lang="en-US" sz="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UMC Singapore, Foxconn Asia; expanding into the US (Texas) &amp; Japan (RayZher)</a:t>
            </a:r>
          </a:p>
          <a:p>
            <a:pPr marL="114294" indent="-114294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420710" y="5169445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ASSUMPTIONS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380308" y="5447045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294" indent="-114294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Bear: </a:t>
            </a:r>
            <a:r>
              <a:rPr lang="en-US" sz="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revenue growth +14%, 13% op. margin → $24.9 (-6%)</a:t>
            </a:r>
            <a:endParaRPr lang="en-US" sz="900" dirty="0"/>
          </a:p>
          <a:p>
            <a:pPr marL="114294" indent="-114294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</a:t>
            </a:r>
            <a:r>
              <a:rPr lang="en-US" sz="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revenue growth +18%, 16% op. margin → $33 (+24.5% 12m)</a:t>
            </a:r>
            <a:endParaRPr lang="en-US" sz="900" dirty="0"/>
          </a:p>
          <a:p>
            <a:pPr marL="114294" indent="-114294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Bull: </a:t>
            </a:r>
            <a:r>
              <a:rPr lang="en-US" sz="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revenue growth +20%, 18% op. margin → $40.4 (+52.5%)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58427" y="2399507"/>
            <a:ext cx="5608280" cy="237744"/>
          </a:xfrm>
          <a:prstGeom prst="rect">
            <a:avLst/>
          </a:prstGeom>
          <a:solidFill>
            <a:srgbClr val="1F2A4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 txBox="1"/>
          <p:nvPr/>
        </p:nvSpPr>
        <p:spPr>
          <a:xfrm>
            <a:off x="6270779" y="2399507"/>
            <a:ext cx="556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51" b="1" kern="0" spc="15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— THE MARKET IS OVER-PUNISHING THE GROWTH</a:t>
            </a:r>
            <a:endParaRPr lang="en-US" sz="951" dirty="0"/>
          </a:p>
        </p:txBody>
      </p:sp>
      <p:graphicFrame>
        <p:nvGraphicFramePr>
          <p:cNvPr id="37" name="Chart 0"/>
          <p:cNvGraphicFramePr/>
          <p:nvPr>
            <p:extLst>
              <p:ext uri="{D42A27DB-BD31-4B8C-83A1-F6EECF244321}">
                <p14:modId xmlns:p14="http://schemas.microsoft.com/office/powerpoint/2010/main" val="2428019145"/>
              </p:ext>
            </p:extLst>
          </p:nvPr>
        </p:nvGraphicFramePr>
        <p:xfrm>
          <a:off x="8918364" y="2885550"/>
          <a:ext cx="3250897" cy="22395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8" name="Shape 35"/>
          <p:cNvSpPr/>
          <p:nvPr/>
        </p:nvSpPr>
        <p:spPr>
          <a:xfrm>
            <a:off x="6229907" y="5290747"/>
            <a:ext cx="5371627" cy="560209"/>
          </a:xfrm>
          <a:prstGeom prst="roundRect">
            <a:avLst>
              <a:gd name="adj" fmla="val 4211"/>
            </a:avLst>
          </a:prstGeom>
          <a:solidFill>
            <a:srgbClr val="F5F6F8"/>
          </a:solidFill>
          <a:ln w="9525">
            <a:solidFill>
              <a:srgbClr val="D9DC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6"/>
          <p:cNvSpPr txBox="1"/>
          <p:nvPr/>
        </p:nvSpPr>
        <p:spPr>
          <a:xfrm>
            <a:off x="6449446" y="5299426"/>
            <a:ext cx="4932547" cy="586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</a:t>
            </a:r>
            <a:r>
              <a:rPr lang="fr-FR" sz="900" b="1" dirty="0"/>
              <a:t>:</a:t>
            </a:r>
            <a:r>
              <a:rPr lang="fr-FR" sz="900" dirty="0"/>
              <a:t> Down 40–45% </a:t>
            </a:r>
            <a:r>
              <a:rPr lang="fr-FR" sz="900" dirty="0" err="1"/>
              <a:t>from</a:t>
            </a:r>
            <a:r>
              <a:rPr lang="fr-FR" sz="900" dirty="0"/>
              <a:t> </a:t>
            </a:r>
            <a:r>
              <a:rPr lang="fr-FR" sz="900" dirty="0" err="1"/>
              <a:t>its</a:t>
            </a:r>
            <a:r>
              <a:rPr lang="fr-FR" sz="900" dirty="0"/>
              <a:t> July </a:t>
            </a:r>
            <a:r>
              <a:rPr lang="fr-FR" sz="900" dirty="0" err="1"/>
              <a:t>peak</a:t>
            </a:r>
            <a:r>
              <a:rPr lang="fr-FR" sz="900" dirty="0"/>
              <a:t>, the stock </a:t>
            </a:r>
            <a:r>
              <a:rPr lang="fr-FR" sz="900" dirty="0" err="1"/>
              <a:t>is</a:t>
            </a:r>
            <a:r>
              <a:rPr lang="fr-FR" sz="900" dirty="0"/>
              <a:t> </a:t>
            </a:r>
            <a:r>
              <a:rPr lang="fr-FR" sz="900" dirty="0" err="1"/>
              <a:t>pricing</a:t>
            </a:r>
            <a:r>
              <a:rPr lang="fr-FR" sz="900" dirty="0"/>
              <a:t> in a </a:t>
            </a:r>
            <a:r>
              <a:rPr lang="fr-FR" sz="900" dirty="0" err="1"/>
              <a:t>fundamental</a:t>
            </a:r>
            <a:r>
              <a:rPr lang="fr-FR" sz="900" dirty="0"/>
              <a:t> </a:t>
            </a:r>
            <a:r>
              <a:rPr lang="fr-FR" sz="900" dirty="0" err="1"/>
              <a:t>deterioration</a:t>
            </a:r>
            <a:r>
              <a:rPr lang="fr-FR" sz="900" dirty="0"/>
              <a:t> </a:t>
            </a:r>
            <a:r>
              <a:rPr lang="fr-FR" sz="900" dirty="0" err="1"/>
              <a:t>that</a:t>
            </a:r>
            <a:r>
              <a:rPr lang="fr-FR" sz="900" dirty="0"/>
              <a:t> has </a:t>
            </a:r>
            <a:r>
              <a:rPr lang="fr-FR" sz="900" dirty="0" err="1"/>
              <a:t>yet</a:t>
            </a:r>
            <a:r>
              <a:rPr lang="fr-FR" sz="900" dirty="0"/>
              <a:t> to </a:t>
            </a:r>
            <a:r>
              <a:rPr lang="fr-FR" sz="900" dirty="0" err="1"/>
              <a:t>materialize</a:t>
            </a:r>
            <a:r>
              <a:rPr lang="fr-FR" sz="900" dirty="0"/>
              <a:t> — </a:t>
            </a:r>
            <a:r>
              <a:rPr lang="fr-FR" sz="900" dirty="0" err="1"/>
              <a:t>growth</a:t>
            </a:r>
            <a:r>
              <a:rPr lang="fr-FR" sz="900" dirty="0"/>
              <a:t> </a:t>
            </a:r>
            <a:r>
              <a:rPr lang="fr-FR" sz="900" dirty="0" err="1"/>
              <a:t>remains</a:t>
            </a:r>
            <a:r>
              <a:rPr lang="fr-FR" sz="900" dirty="0"/>
              <a:t> intact, </a:t>
            </a:r>
            <a:r>
              <a:rPr lang="fr-FR" sz="900" dirty="0" err="1"/>
              <a:t>with</a:t>
            </a:r>
            <a:r>
              <a:rPr lang="fr-FR" sz="900" dirty="0"/>
              <a:t> multiple </a:t>
            </a:r>
            <a:r>
              <a:rPr lang="fr-FR" sz="900" dirty="0" err="1"/>
              <a:t>catalysts</a:t>
            </a:r>
            <a:r>
              <a:rPr lang="fr-FR" sz="900" dirty="0"/>
              <a:t> </a:t>
            </a:r>
            <a:r>
              <a:rPr lang="fr-FR" sz="900" dirty="0" err="1"/>
              <a:t>ahead</a:t>
            </a:r>
            <a:r>
              <a:rPr lang="fr-FR" sz="900" dirty="0"/>
              <a:t>.</a:t>
            </a:r>
          </a:p>
          <a:p>
            <a:pPr>
              <a:lnSpc>
                <a:spcPct val="100000"/>
              </a:lnSpc>
            </a:pP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365760" y="5989380"/>
            <a:ext cx="5577840" cy="237744"/>
          </a:xfrm>
          <a:prstGeom prst="rect">
            <a:avLst/>
          </a:prstGeom>
          <a:solidFill>
            <a:srgbClr val="1F2A4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Text 38"/>
          <p:cNvSpPr txBox="1"/>
          <p:nvPr/>
        </p:nvSpPr>
        <p:spPr>
          <a:xfrm>
            <a:off x="355735" y="6000991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51" b="1" kern="0" spc="15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CATALYSTS</a:t>
            </a:r>
            <a:endParaRPr lang="en-US" sz="951" dirty="0"/>
          </a:p>
        </p:txBody>
      </p:sp>
      <p:sp>
        <p:nvSpPr>
          <p:cNvPr id="42" name="Shape 39"/>
          <p:cNvSpPr/>
          <p:nvPr/>
        </p:nvSpPr>
        <p:spPr>
          <a:xfrm>
            <a:off x="6218602" y="5983633"/>
            <a:ext cx="5577840" cy="237744"/>
          </a:xfrm>
          <a:prstGeom prst="rect">
            <a:avLst/>
          </a:prstGeom>
          <a:solidFill>
            <a:srgbClr val="1F2A4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3" name="Text 40"/>
          <p:cNvSpPr txBox="1"/>
          <p:nvPr/>
        </p:nvSpPr>
        <p:spPr>
          <a:xfrm>
            <a:off x="6174121" y="5982762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51" b="1" kern="0" spc="15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951" dirty="0"/>
          </a:p>
        </p:txBody>
      </p:sp>
      <p:sp>
        <p:nvSpPr>
          <p:cNvPr id="44" name="Text 41"/>
          <p:cNvSpPr txBox="1"/>
          <p:nvPr/>
        </p:nvSpPr>
        <p:spPr>
          <a:xfrm>
            <a:off x="355735" y="6311887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294" indent="-114294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China+1: relocation of capacity out of China (SE Asia, India) → broader addressable market</a:t>
            </a:r>
            <a:endParaRPr lang="en-US" sz="900" dirty="0"/>
          </a:p>
          <a:p>
            <a:pPr marL="114294" indent="-114294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America: order flow expected in H2 2026; target of 3,000 employees by end-2026</a:t>
            </a:r>
            <a:endParaRPr lang="en-US" sz="900" dirty="0"/>
          </a:p>
          <a:p>
            <a:pPr marL="114294" indent="-114294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Suzhou Guanli IPO: ChiNext, filing accepted 30/06/2026 (48.1% owned)</a:t>
            </a:r>
            <a:endParaRPr lang="en-US" sz="900" dirty="0"/>
          </a:p>
        </p:txBody>
      </p:sp>
      <p:sp>
        <p:nvSpPr>
          <p:cNvPr id="45" name="Text 42"/>
          <p:cNvSpPr txBox="1"/>
          <p:nvPr/>
        </p:nvSpPr>
        <p:spPr>
          <a:xfrm>
            <a:off x="6270779" y="6290831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294" indent="-114294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Cyclicality: direct exposure to fab/foundry capex — sensitive to an AI cycle slowdown</a:t>
            </a:r>
            <a:endParaRPr lang="en-US" sz="900" dirty="0"/>
          </a:p>
          <a:p>
            <a:pPr marL="114294" indent="-114294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Concentration: Taiwan-heavy, small number of large customers (UMC, Foxconn)</a:t>
            </a:r>
            <a:endParaRPr lang="en-US" sz="900" dirty="0"/>
          </a:p>
          <a:p>
            <a:pPr marL="114294" indent="-114294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volatility: Q2 net profit -14% despite record revenue — market read is sensitive to base effects</a:t>
            </a:r>
            <a:endParaRPr lang="en-US" sz="900" dirty="0"/>
          </a:p>
        </p:txBody>
      </p:sp>
      <p:sp>
        <p:nvSpPr>
          <p:cNvPr id="3" name="Shape 21">
            <a:extLst>
              <a:ext uri="{FF2B5EF4-FFF2-40B4-BE49-F238E27FC236}">
                <a16:creationId xmlns:a16="http://schemas.microsoft.com/office/drawing/2014/main" id="{11A30B8F-AA57-B29E-4884-CF31BB713949}"/>
              </a:ext>
            </a:extLst>
          </p:cNvPr>
          <p:cNvSpPr/>
          <p:nvPr/>
        </p:nvSpPr>
        <p:spPr>
          <a:xfrm>
            <a:off x="10318120" y="1835576"/>
            <a:ext cx="0" cy="36576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2">
            <a:extLst>
              <a:ext uri="{FF2B5EF4-FFF2-40B4-BE49-F238E27FC236}">
                <a16:creationId xmlns:a16="http://schemas.microsoft.com/office/drawing/2014/main" id="{CBE5003C-B348-2622-CF56-5464E0EC8A10}"/>
              </a:ext>
            </a:extLst>
          </p:cNvPr>
          <p:cNvSpPr txBox="1"/>
          <p:nvPr/>
        </p:nvSpPr>
        <p:spPr>
          <a:xfrm>
            <a:off x="10419588" y="1762424"/>
            <a:ext cx="1772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1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$26.5</a:t>
            </a:r>
          </a:p>
        </p:txBody>
      </p:sp>
      <p:sp>
        <p:nvSpPr>
          <p:cNvPr id="46" name="Text 23">
            <a:extLst>
              <a:ext uri="{FF2B5EF4-FFF2-40B4-BE49-F238E27FC236}">
                <a16:creationId xmlns:a16="http://schemas.microsoft.com/office/drawing/2014/main" id="{664D23E0-74AB-DDAE-92D6-33368BD39E7D}"/>
              </a:ext>
            </a:extLst>
          </p:cNvPr>
          <p:cNvSpPr txBox="1"/>
          <p:nvPr/>
        </p:nvSpPr>
        <p:spPr>
          <a:xfrm>
            <a:off x="10419588" y="2018456"/>
            <a:ext cx="17724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price </a:t>
            </a:r>
            <a:endParaRPr lang="en-US" sz="751" dirty="0"/>
          </a:p>
        </p:txBody>
      </p:sp>
      <p:pic>
        <p:nvPicPr>
          <p:cNvPr id="48" name="Image 47">
            <a:extLst>
              <a:ext uri="{FF2B5EF4-FFF2-40B4-BE49-F238E27FC236}">
                <a16:creationId xmlns:a16="http://schemas.microsoft.com/office/drawing/2014/main" id="{853092C5-2D79-BC0D-5B29-71875E0700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"/>
            <a:ext cx="12192000" cy="857560"/>
          </a:xfrm>
          <a:prstGeom prst="rect">
            <a:avLst/>
          </a:prstGeom>
        </p:spPr>
      </p:pic>
      <p:sp>
        <p:nvSpPr>
          <p:cNvPr id="6" name="Text 28">
            <a:extLst>
              <a:ext uri="{FF2B5EF4-FFF2-40B4-BE49-F238E27FC236}">
                <a16:creationId xmlns:a16="http://schemas.microsoft.com/office/drawing/2014/main" id="{DA8328A6-57A0-4258-6259-31841F17B59C}"/>
              </a:ext>
            </a:extLst>
          </p:cNvPr>
          <p:cNvSpPr txBox="1"/>
          <p:nvPr/>
        </p:nvSpPr>
        <p:spPr>
          <a:xfrm>
            <a:off x="6221290" y="2999651"/>
            <a:ext cx="2697074" cy="774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294" indent="-114294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GB" sz="9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competitors are mostly Asian, </a:t>
            </a:r>
            <a:r>
              <a:rPr lang="en-GB" sz="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notably UIS/Han Tang, Marketech International and Yankey Engineering — no significant valuation anomaly identified vs. these comps</a:t>
            </a:r>
            <a:endParaRPr lang="en-US" sz="90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9" name="Text 27">
            <a:extLst>
              <a:ext uri="{FF2B5EF4-FFF2-40B4-BE49-F238E27FC236}">
                <a16:creationId xmlns:a16="http://schemas.microsoft.com/office/drawing/2014/main" id="{3DB13934-DC5F-833F-EFC0-E0151A0D585C}"/>
              </a:ext>
            </a:extLst>
          </p:cNvPr>
          <p:cNvSpPr txBox="1"/>
          <p:nvPr/>
        </p:nvSpPr>
        <p:spPr>
          <a:xfrm>
            <a:off x="6276594" y="271989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Peers</a:t>
            </a:r>
          </a:p>
        </p:txBody>
      </p:sp>
      <p:sp>
        <p:nvSpPr>
          <p:cNvPr id="51" name="Text 27">
            <a:extLst>
              <a:ext uri="{FF2B5EF4-FFF2-40B4-BE49-F238E27FC236}">
                <a16:creationId xmlns:a16="http://schemas.microsoft.com/office/drawing/2014/main" id="{192E87D3-401D-4BE7-8FD5-7BBC8992E2CF}"/>
              </a:ext>
            </a:extLst>
          </p:cNvPr>
          <p:cNvSpPr txBox="1"/>
          <p:nvPr/>
        </p:nvSpPr>
        <p:spPr>
          <a:xfrm>
            <a:off x="6246270" y="372992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900" b="1" kern="0" spc="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momentum</a:t>
            </a:r>
            <a:endParaRPr lang="en-US" sz="900" b="1" kern="0" spc="100" dirty="0">
              <a:solidFill>
                <a:srgbClr val="1F2A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26B015AD-69B5-A68C-8979-5818FFC34CAD}"/>
              </a:ext>
            </a:extLst>
          </p:cNvPr>
          <p:cNvSpPr txBox="1"/>
          <p:nvPr/>
        </p:nvSpPr>
        <p:spPr>
          <a:xfrm>
            <a:off x="6221289" y="4009681"/>
            <a:ext cx="2741751" cy="1437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294" indent="-114294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Demanding market: </a:t>
            </a:r>
            <a:r>
              <a:rPr lang="en-US" sz="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down 40-45% from July peak (still +9% YTD) despite Q2 op. margin at 16% (vs 13.8% in 2025)</a:t>
            </a:r>
          </a:p>
          <a:p>
            <a:pPr marL="114294" indent="-114294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GB" sz="9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Growth: </a:t>
            </a:r>
            <a:r>
              <a:rPr lang="en-GB" sz="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2026 revenue +28%, net profit +96%; August revenue +45% YoY</a:t>
            </a:r>
          </a:p>
          <a:p>
            <a:pPr marL="114294" indent="-114294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GB" sz="9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2026: </a:t>
            </a:r>
            <a:r>
              <a:rPr lang="en-GB" sz="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revenue, net profit -14% vs Q1 — market reaction looks overdone</a:t>
            </a:r>
            <a:endParaRPr lang="en-US" sz="90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Text 5"/>
          <p:cNvSpPr txBox="1"/>
          <p:nvPr/>
        </p:nvSpPr>
        <p:spPr>
          <a:xfrm>
            <a:off x="355735" y="874367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300" b="1" dirty="0">
                <a:latin typeface="Cambria" panose="02040503050406030204" pitchFamily="18" charset="0"/>
              </a:rPr>
              <a:t>CHEMRING</a:t>
            </a:r>
            <a:r>
              <a:rPr lang="fr-FR" sz="2300" b="1" dirty="0">
                <a:latin typeface="Cambria" panose="02040503050406030204" pitchFamily="18" charset="0"/>
              </a:rPr>
              <a:t> GROUP PLC</a:t>
            </a:r>
            <a:endParaRPr lang="en-US" sz="2300" dirty="0">
              <a:latin typeface="Cambria" panose="020405030504060302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409275" y="1368143"/>
            <a:ext cx="11457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0"/>
              </a:spcAft>
            </a:pPr>
            <a:r>
              <a:rPr sz="950" b="1" dirty="0">
                <a:latin typeface="Calibri"/>
              </a:rPr>
              <a:t>UK defence group sitting on Europe's rearmament bottleneck. </a:t>
            </a:r>
            <a:r>
              <a:rPr sz="950" b="0" dirty="0">
                <a:latin typeface="Calibri"/>
              </a:rPr>
              <a:t>One of only two European producers of military explosives (HMX/RDX/NTO); a £1.4bn order book covers 91% of FY26e sales.</a:t>
            </a:r>
            <a:endParaRPr lang="en-US" sz="951" dirty="0"/>
          </a:p>
        </p:txBody>
      </p:sp>
      <p:sp>
        <p:nvSpPr>
          <p:cNvPr id="9" name="Text 7"/>
          <p:cNvSpPr txBox="1"/>
          <p:nvPr/>
        </p:nvSpPr>
        <p:spPr>
          <a:xfrm>
            <a:off x="514186" y="1784080"/>
            <a:ext cx="15063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351" b="1">
                <a:latin typeface="Calibri"/>
              </a:rPr>
              <a:t>£1.4bn</a:t>
            </a:r>
            <a:endParaRPr lang="en-US" sz="1351" dirty="0"/>
          </a:p>
        </p:txBody>
      </p:sp>
      <p:sp>
        <p:nvSpPr>
          <p:cNvPr id="10" name="Text 8"/>
          <p:cNvSpPr txBox="1"/>
          <p:nvPr/>
        </p:nvSpPr>
        <p:spPr>
          <a:xfrm>
            <a:off x="514187" y="2040112"/>
            <a:ext cx="17724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751" b="0">
                <a:latin typeface="Calibri"/>
              </a:rPr>
              <a:t>Order book (91% FY26e sales)</a:t>
            </a:r>
            <a:endParaRPr lang="en-US" sz="751" dirty="0"/>
          </a:p>
        </p:txBody>
      </p:sp>
      <p:sp>
        <p:nvSpPr>
          <p:cNvPr id="11" name="Shape 9"/>
          <p:cNvSpPr/>
          <p:nvPr/>
        </p:nvSpPr>
        <p:spPr>
          <a:xfrm>
            <a:off x="2087796" y="1848968"/>
            <a:ext cx="0" cy="36576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2189264" y="1775816"/>
            <a:ext cx="1772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351" b="1">
                <a:latin typeface="Calibri"/>
              </a:rPr>
              <a:t>~£1.47bn</a:t>
            </a:r>
            <a:endParaRPr lang="en-US" sz="1351" dirty="0"/>
          </a:p>
        </p:txBody>
      </p:sp>
      <p:sp>
        <p:nvSpPr>
          <p:cNvPr id="13" name="Text 11"/>
          <p:cNvSpPr txBox="1"/>
          <p:nvPr/>
        </p:nvSpPr>
        <p:spPr>
          <a:xfrm>
            <a:off x="2178631" y="2031848"/>
            <a:ext cx="17724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800" dirty="0" err="1"/>
              <a:t>Market</a:t>
            </a:r>
            <a:r>
              <a:rPr lang="en-GB" sz="800" dirty="0"/>
              <a:t> capitalisation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758742" y="1848968"/>
            <a:ext cx="0" cy="36576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 txBox="1"/>
          <p:nvPr/>
        </p:nvSpPr>
        <p:spPr>
          <a:xfrm>
            <a:off x="3860208" y="1775816"/>
            <a:ext cx="1772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351" b="1">
                <a:latin typeface="Calibri"/>
              </a:rPr>
              <a:t>£100m · ~1.4x</a:t>
            </a:r>
            <a:endParaRPr lang="en-US" sz="1351" dirty="0"/>
          </a:p>
        </p:txBody>
      </p:sp>
      <p:sp>
        <p:nvSpPr>
          <p:cNvPr id="16" name="Text 14"/>
          <p:cNvSpPr txBox="1"/>
          <p:nvPr/>
        </p:nvSpPr>
        <p:spPr>
          <a:xfrm>
            <a:off x="3860208" y="2031848"/>
            <a:ext cx="17724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751" b="0">
                <a:latin typeface="Calibri"/>
              </a:rPr>
              <a:t>Net debt · leverage</a:t>
            </a:r>
            <a:endParaRPr lang="en-US" sz="751" dirty="0"/>
          </a:p>
        </p:txBody>
      </p:sp>
      <p:sp>
        <p:nvSpPr>
          <p:cNvPr id="17" name="Shape 15"/>
          <p:cNvSpPr/>
          <p:nvPr/>
        </p:nvSpPr>
        <p:spPr>
          <a:xfrm>
            <a:off x="5558992" y="1835576"/>
            <a:ext cx="0" cy="36576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5734087" y="1775816"/>
            <a:ext cx="1772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351" b="1" dirty="0">
                <a:latin typeface="Calibri"/>
              </a:rPr>
              <a:t>22.</a:t>
            </a:r>
            <a:r>
              <a:rPr lang="en-GB" sz="1351" b="1" dirty="0">
                <a:latin typeface="Calibri"/>
              </a:rPr>
              <a:t>4</a:t>
            </a:r>
            <a:r>
              <a:rPr sz="1351" b="1" dirty="0">
                <a:latin typeface="Calibri"/>
              </a:rPr>
              <a:t>x</a:t>
            </a:r>
            <a:endParaRPr lang="en-US" sz="1351" dirty="0"/>
          </a:p>
        </p:txBody>
      </p:sp>
      <p:sp>
        <p:nvSpPr>
          <p:cNvPr id="19" name="Text 17"/>
          <p:cNvSpPr txBox="1"/>
          <p:nvPr/>
        </p:nvSpPr>
        <p:spPr>
          <a:xfrm>
            <a:off x="5734087" y="2031848"/>
            <a:ext cx="17724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751" b="0">
                <a:latin typeface="Calibri"/>
              </a:rPr>
              <a:t>P/E FY27e</a:t>
            </a:r>
            <a:endParaRPr lang="en-US" sz="751" dirty="0"/>
          </a:p>
        </p:txBody>
      </p:sp>
      <p:sp>
        <p:nvSpPr>
          <p:cNvPr id="20" name="Shape 18"/>
          <p:cNvSpPr/>
          <p:nvPr/>
        </p:nvSpPr>
        <p:spPr>
          <a:xfrm>
            <a:off x="7297830" y="1848968"/>
            <a:ext cx="0" cy="36576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 txBox="1"/>
          <p:nvPr/>
        </p:nvSpPr>
        <p:spPr>
          <a:xfrm>
            <a:off x="7399296" y="1775816"/>
            <a:ext cx="1772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351" b="1" dirty="0">
                <a:latin typeface="Calibri"/>
              </a:rPr>
              <a:t>610</a:t>
            </a:r>
            <a:r>
              <a:rPr lang="en-GB" sz="1351" b="1" dirty="0">
                <a:latin typeface="Calibri"/>
              </a:rPr>
              <a:t>p</a:t>
            </a:r>
            <a:endParaRPr lang="en-US" sz="1351" dirty="0"/>
          </a:p>
        </p:txBody>
      </p:sp>
      <p:sp>
        <p:nvSpPr>
          <p:cNvPr id="22" name="Text 20"/>
          <p:cNvSpPr txBox="1"/>
          <p:nvPr/>
        </p:nvSpPr>
        <p:spPr>
          <a:xfrm>
            <a:off x="7399296" y="2031848"/>
            <a:ext cx="17724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751" b="0">
                <a:latin typeface="Calibri"/>
              </a:rPr>
              <a:t>Base target price</a:t>
            </a:r>
            <a:endParaRPr lang="en-US" sz="751" dirty="0"/>
          </a:p>
        </p:txBody>
      </p:sp>
      <p:sp>
        <p:nvSpPr>
          <p:cNvPr id="23" name="Shape 21"/>
          <p:cNvSpPr/>
          <p:nvPr/>
        </p:nvSpPr>
        <p:spPr>
          <a:xfrm>
            <a:off x="8963041" y="1838944"/>
            <a:ext cx="0" cy="36576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 txBox="1"/>
          <p:nvPr/>
        </p:nvSpPr>
        <p:spPr>
          <a:xfrm>
            <a:off x="9064508" y="1765792"/>
            <a:ext cx="1772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351" b="1" dirty="0">
                <a:latin typeface="Calibri"/>
              </a:rPr>
              <a:t>+13.</a:t>
            </a:r>
            <a:r>
              <a:rPr lang="en-GB" sz="1351" b="1" dirty="0">
                <a:latin typeface="Calibri"/>
              </a:rPr>
              <a:t>0</a:t>
            </a:r>
            <a:r>
              <a:rPr sz="1351" b="1" dirty="0">
                <a:latin typeface="Calibri"/>
              </a:rPr>
              <a:t>%</a:t>
            </a:r>
            <a:endParaRPr lang="en-US" sz="1351" dirty="0"/>
          </a:p>
        </p:txBody>
      </p:sp>
      <p:sp>
        <p:nvSpPr>
          <p:cNvPr id="25" name="Text 23"/>
          <p:cNvSpPr txBox="1"/>
          <p:nvPr/>
        </p:nvSpPr>
        <p:spPr>
          <a:xfrm>
            <a:off x="9064508" y="2021824"/>
            <a:ext cx="17724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751" b="0">
                <a:latin typeface="Calibri"/>
              </a:rPr>
              <a:t>Upside vs current</a:t>
            </a:r>
            <a:endParaRPr lang="en-US" sz="751" dirty="0"/>
          </a:p>
        </p:txBody>
      </p:sp>
      <p:sp>
        <p:nvSpPr>
          <p:cNvPr id="26" name="Shape 24"/>
          <p:cNvSpPr/>
          <p:nvPr/>
        </p:nvSpPr>
        <p:spPr>
          <a:xfrm>
            <a:off x="365760" y="2239798"/>
            <a:ext cx="11457432" cy="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396200" y="2390434"/>
            <a:ext cx="5029200" cy="237744"/>
          </a:xfrm>
          <a:prstGeom prst="rect">
            <a:avLst/>
          </a:prstGeom>
          <a:solidFill>
            <a:srgbClr val="1F2A44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28" name="Text 26"/>
          <p:cNvSpPr txBox="1"/>
          <p:nvPr/>
        </p:nvSpPr>
        <p:spPr>
          <a:xfrm>
            <a:off x="365760" y="2396256"/>
            <a:ext cx="5029200" cy="231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950" b="1" dirty="0">
                <a:solidFill>
                  <a:schemeClr val="bg1"/>
                </a:solidFill>
                <a:latin typeface="Calibri"/>
              </a:rPr>
              <a:t>BUSINESS &amp; INVESTMENT CASE</a:t>
            </a:r>
            <a:endParaRPr lang="en-US" sz="951" dirty="0">
              <a:solidFill>
                <a:schemeClr val="bg1"/>
              </a:solidFill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396200" y="270267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900" b="1" dirty="0">
                <a:latin typeface="Calibri"/>
              </a:rPr>
              <a:t>LOADED FOR REARMAMENT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396200" y="2916842"/>
            <a:ext cx="5029200" cy="56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294" indent="-114294">
              <a:lnSpc>
                <a:spcPct val="98000"/>
              </a:lnSpc>
              <a:spcAft>
                <a:spcPts val="0"/>
              </a:spcAft>
              <a:buSzPct val="100000"/>
              <a:buChar char="•"/>
            </a:pPr>
            <a:r>
              <a:rPr sz="850" b="1" dirty="0">
                <a:latin typeface="Calibri"/>
              </a:rPr>
              <a:t>Countermeasures &amp; Energetics — 65% of sales </a:t>
            </a:r>
            <a:r>
              <a:rPr sz="850" b="0" dirty="0">
                <a:latin typeface="Calibri"/>
              </a:rPr>
              <a:t>(~19% EBIT margin): IR decoy flares &amp; chaff; HMX/RDX/NTO military explosives via Chemring Nobel (Norway); rocket motors; space pyrotechnics for NASA/SpaceX</a:t>
            </a:r>
            <a:endParaRPr lang="en-US" sz="850" dirty="0"/>
          </a:p>
          <a:p>
            <a:pPr marL="114294" indent="-114294">
              <a:lnSpc>
                <a:spcPct val="98000"/>
              </a:lnSpc>
              <a:spcAft>
                <a:spcPts val="0"/>
              </a:spcAft>
              <a:buSzPct val="100000"/>
              <a:buChar char="•"/>
            </a:pPr>
            <a:r>
              <a:rPr sz="850" b="1" dirty="0">
                <a:latin typeface="Calibri"/>
              </a:rPr>
              <a:t>Sensors &amp; Information — 35% of sales </a:t>
            </a:r>
            <a:r>
              <a:rPr sz="850" b="0" dirty="0">
                <a:latin typeface="Calibri"/>
              </a:rPr>
              <a:t>(~18% EBIT margin): defence R&amp;D — electronic warfare, SIGINT, cyber-defence, AI/data, sensors for UK MoD &amp; NATO</a:t>
            </a:r>
          </a:p>
        </p:txBody>
      </p:sp>
      <p:sp>
        <p:nvSpPr>
          <p:cNvPr id="31" name="Text 29"/>
          <p:cNvSpPr txBox="1"/>
          <p:nvPr/>
        </p:nvSpPr>
        <p:spPr>
          <a:xfrm>
            <a:off x="396200" y="3685057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900" b="1" dirty="0">
                <a:latin typeface="Calibri"/>
              </a:rPr>
              <a:t>LIGHTING THE FUSE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409338" y="3907116"/>
            <a:ext cx="5023336" cy="1010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294" indent="-114294">
              <a:lnSpc>
                <a:spcPct val="98000"/>
              </a:lnSpc>
              <a:spcAft>
                <a:spcPts val="0"/>
              </a:spcAft>
              <a:buSzPct val="100000"/>
              <a:buChar char="•"/>
            </a:pPr>
            <a:r>
              <a:rPr sz="850" b="1" dirty="0">
                <a:latin typeface="Calibri"/>
              </a:rPr>
              <a:t>European rearmament bottleneck: </a:t>
            </a:r>
            <a:r>
              <a:rPr sz="850" b="0" dirty="0">
                <a:latin typeface="Calibri"/>
              </a:rPr>
              <a:t>1 of only 2 EU makers of HMX/RDX/NTO explosives (with France's Eurenco); capacity doubling co-funded by Norway + EU</a:t>
            </a:r>
            <a:endParaRPr lang="en-US" sz="850" dirty="0"/>
          </a:p>
          <a:p>
            <a:pPr marL="114294" indent="-114294">
              <a:lnSpc>
                <a:spcPct val="98000"/>
              </a:lnSpc>
              <a:spcAft>
                <a:spcPts val="0"/>
              </a:spcAft>
              <a:buSzPct val="100000"/>
              <a:buChar char="•"/>
            </a:pPr>
            <a:r>
              <a:rPr sz="850" b="1" dirty="0">
                <a:latin typeface="Calibri"/>
              </a:rPr>
              <a:t>Profit inflection ahead, underestimated: </a:t>
            </a:r>
            <a:r>
              <a:rPr sz="850" b="0" dirty="0">
                <a:latin typeface="Calibri"/>
              </a:rPr>
              <a:t>FY25-26 flat on Norway capex; consensus sees +24% EPS and FCF turning to +£80m by FY27-28e</a:t>
            </a:r>
            <a:endParaRPr lang="en-GB" sz="850" b="0" dirty="0">
              <a:latin typeface="Calibri"/>
            </a:endParaRPr>
          </a:p>
          <a:p>
            <a:pPr marL="114294" indent="-114294">
              <a:lnSpc>
                <a:spcPct val="98000"/>
              </a:lnSpc>
              <a:spcAft>
                <a:spcPts val="0"/>
              </a:spcAft>
              <a:buSzPct val="100000"/>
              <a:buChar char="•"/>
            </a:pPr>
            <a:r>
              <a:rPr sz="850" b="1" dirty="0">
                <a:latin typeface="Calibri"/>
              </a:rPr>
              <a:t>Takeover signals building: </a:t>
            </a:r>
            <a:r>
              <a:rPr sz="850" b="0" dirty="0">
                <a:latin typeface="Calibri"/>
              </a:rPr>
              <a:t>Bain bid 390p (Feb-25, rejected); Albion River now 13.0%; 96% free float, &lt;£1.5bn market cap</a:t>
            </a:r>
            <a:endParaRPr lang="en-GB" sz="850" b="0" dirty="0">
              <a:latin typeface="Calibri"/>
            </a:endParaRPr>
          </a:p>
          <a:p>
            <a:pPr marL="114294" indent="-114294">
              <a:lnSpc>
                <a:spcPct val="98000"/>
              </a:lnSpc>
              <a:spcAft>
                <a:spcPts val="0"/>
              </a:spcAft>
              <a:buSzPct val="100000"/>
              <a:buChar char="•"/>
            </a:pPr>
            <a:r>
              <a:rPr sz="850" b="1" dirty="0">
                <a:latin typeface="Calibri"/>
              </a:rPr>
              <a:t>Direct US government backing: </a:t>
            </a:r>
            <a:r>
              <a:rPr sz="850" b="0" dirty="0">
                <a:latin typeface="Calibri"/>
              </a:rPr>
              <a:t>US Dept of War financing Alloy Surfaces (Philadelphia) restart — $45m OTA + $300m IDIQ over 5yrs</a:t>
            </a:r>
          </a:p>
        </p:txBody>
      </p:sp>
      <p:sp>
        <p:nvSpPr>
          <p:cNvPr id="33" name="Text 31"/>
          <p:cNvSpPr txBox="1"/>
          <p:nvPr/>
        </p:nvSpPr>
        <p:spPr>
          <a:xfrm>
            <a:off x="396200" y="5137019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 b="1" dirty="0">
                <a:latin typeface="Calibri"/>
              </a:rPr>
              <a:t>VALUATION CROSS-CHECKS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402064" y="5346636"/>
            <a:ext cx="5023336" cy="32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294" indent="-114294">
              <a:lnSpc>
                <a:spcPct val="100000"/>
              </a:lnSpc>
              <a:spcAft>
                <a:spcPts val="0"/>
              </a:spcAft>
              <a:buSzPct val="100000"/>
              <a:buChar char="•"/>
            </a:pPr>
            <a:r>
              <a:rPr lang="en-GB" sz="8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4-method average</a:t>
            </a:r>
            <a:r>
              <a:rPr lang="en-GB" sz="8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P/E 618p, EV/EBITDA 582p, DCF 720p, SOTP 520p → 610p</a:t>
            </a:r>
          </a:p>
          <a:p>
            <a:pPr marL="114294" indent="-114294">
              <a:lnSpc>
                <a:spcPct val="100000"/>
              </a:lnSpc>
              <a:spcAft>
                <a:spcPts val="0"/>
              </a:spcAft>
              <a:buSzPct val="100000"/>
              <a:buChar char="•"/>
            </a:pPr>
            <a:r>
              <a:rPr lang="en-GB" sz="8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Common base</a:t>
            </a:r>
            <a:r>
              <a:rPr lang="en-GB" sz="8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EPS 26.3p, EBITDA £116m, net debt £100m, 272m shares</a:t>
            </a:r>
            <a:endParaRPr sz="85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258427" y="2399507"/>
            <a:ext cx="5608280" cy="237744"/>
          </a:xfrm>
          <a:prstGeom prst="rect">
            <a:avLst/>
          </a:prstGeom>
          <a:solidFill>
            <a:srgbClr val="1F2A4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 txBox="1"/>
          <p:nvPr/>
        </p:nvSpPr>
        <p:spPr>
          <a:xfrm>
            <a:off x="6270779" y="2399507"/>
            <a:ext cx="5565488" cy="228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950" b="1" dirty="0">
                <a:solidFill>
                  <a:schemeClr val="bg1"/>
                </a:solidFill>
                <a:latin typeface="Calibri"/>
              </a:rPr>
              <a:t>VALUATION — REARMAMENT BOTTLENECK NOT YET PRICED IN</a:t>
            </a:r>
            <a:endParaRPr lang="en-US" sz="951" dirty="0">
              <a:solidFill>
                <a:schemeClr val="bg1"/>
              </a:solidFill>
            </a:endParaRPr>
          </a:p>
        </p:txBody>
      </p:sp>
      <p:graphicFrame>
        <p:nvGraphicFramePr>
          <p:cNvPr id="37" name="Chart 0"/>
          <p:cNvGraphicFramePr/>
          <p:nvPr>
            <p:extLst>
              <p:ext uri="{D42A27DB-BD31-4B8C-83A1-F6EECF244321}">
                <p14:modId xmlns:p14="http://schemas.microsoft.com/office/powerpoint/2010/main" val="488763004"/>
              </p:ext>
            </p:extLst>
          </p:nvPr>
        </p:nvGraphicFramePr>
        <p:xfrm>
          <a:off x="8484401" y="2659790"/>
          <a:ext cx="3382306" cy="202494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8" name="Shape 35"/>
          <p:cNvSpPr/>
          <p:nvPr/>
        </p:nvSpPr>
        <p:spPr>
          <a:xfrm>
            <a:off x="6248491" y="5420438"/>
            <a:ext cx="5224287" cy="443167"/>
          </a:xfrm>
          <a:prstGeom prst="roundRect">
            <a:avLst>
              <a:gd name="adj" fmla="val 0"/>
            </a:avLst>
          </a:prstGeom>
          <a:solidFill>
            <a:srgbClr val="F5F6F8"/>
          </a:solidFill>
          <a:ln w="9525">
            <a:solidFill>
              <a:srgbClr val="D9DC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6"/>
          <p:cNvSpPr txBox="1"/>
          <p:nvPr/>
        </p:nvSpPr>
        <p:spPr>
          <a:xfrm>
            <a:off x="6314190" y="5420439"/>
            <a:ext cx="5092890" cy="443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1" dirty="0">
                <a:latin typeface="Calibri"/>
              </a:rPr>
              <a:t>The key point: </a:t>
            </a:r>
            <a:r>
              <a:rPr lang="en-GB" sz="900" dirty="0"/>
              <a:t>Chemring is paying up for a two-year investment phase the market is under-pricing — while sitting on one of only two European military-explosives plants and a 96%-free-float register that makes it a realistic takeover target.</a:t>
            </a:r>
            <a:endParaRPr sz="900" b="0" dirty="0">
              <a:latin typeface="Calibri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365760" y="5989380"/>
            <a:ext cx="5577840" cy="237744"/>
          </a:xfrm>
          <a:prstGeom prst="rect">
            <a:avLst/>
          </a:prstGeom>
          <a:solidFill>
            <a:srgbClr val="1F2A4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Text 38"/>
          <p:cNvSpPr txBox="1"/>
          <p:nvPr/>
        </p:nvSpPr>
        <p:spPr>
          <a:xfrm>
            <a:off x="355735" y="6000992"/>
            <a:ext cx="5577840" cy="219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950" b="1" dirty="0">
                <a:solidFill>
                  <a:schemeClr val="bg1"/>
                </a:solidFill>
                <a:latin typeface="Calibri"/>
              </a:rPr>
              <a:t>CATALYSTS (12 MONTHS)</a:t>
            </a:r>
            <a:endParaRPr lang="en-US" sz="951" dirty="0">
              <a:solidFill>
                <a:schemeClr val="bg1"/>
              </a:solidFill>
            </a:endParaRPr>
          </a:p>
        </p:txBody>
      </p:sp>
      <p:sp>
        <p:nvSpPr>
          <p:cNvPr id="42" name="Shape 39"/>
          <p:cNvSpPr/>
          <p:nvPr/>
        </p:nvSpPr>
        <p:spPr>
          <a:xfrm>
            <a:off x="6218602" y="5983633"/>
            <a:ext cx="5577840" cy="237744"/>
          </a:xfrm>
          <a:prstGeom prst="rect">
            <a:avLst/>
          </a:prstGeom>
          <a:solidFill>
            <a:srgbClr val="1F2A4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3" name="Text 40"/>
          <p:cNvSpPr txBox="1"/>
          <p:nvPr/>
        </p:nvSpPr>
        <p:spPr>
          <a:xfrm>
            <a:off x="6174120" y="5982762"/>
            <a:ext cx="5692587" cy="237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950" b="1" dirty="0">
                <a:solidFill>
                  <a:schemeClr val="bg1"/>
                </a:solidFill>
                <a:latin typeface="Calibri"/>
              </a:rPr>
              <a:t>KEY RISKS</a:t>
            </a:r>
            <a:endParaRPr lang="en-US" sz="951" dirty="0">
              <a:solidFill>
                <a:schemeClr val="bg1"/>
              </a:solidFill>
            </a:endParaRPr>
          </a:p>
        </p:txBody>
      </p:sp>
      <p:sp>
        <p:nvSpPr>
          <p:cNvPr id="44" name="Text 41"/>
          <p:cNvSpPr txBox="1"/>
          <p:nvPr/>
        </p:nvSpPr>
        <p:spPr>
          <a:xfrm>
            <a:off x="355735" y="6258722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294" indent="-114294">
              <a:lnSpc>
                <a:spcPct val="100000"/>
              </a:lnSpc>
              <a:spcAft>
                <a:spcPts val="0"/>
              </a:spcAft>
              <a:buSzPct val="100000"/>
              <a:buChar char="•"/>
            </a:pPr>
            <a:r>
              <a:rPr lang="en-GB" sz="900" b="1" dirty="0"/>
              <a:t>7 Dec 2026</a:t>
            </a:r>
            <a:r>
              <a:rPr lang="en-GB" sz="900" dirty="0"/>
              <a:t> — FY2026 results: first full year with Alloy Surfaces re-integrated</a:t>
            </a:r>
          </a:p>
          <a:p>
            <a:pPr marL="114294" indent="-114294">
              <a:lnSpc>
                <a:spcPct val="100000"/>
              </a:lnSpc>
              <a:spcAft>
                <a:spcPts val="0"/>
              </a:spcAft>
              <a:buSzPct val="100000"/>
              <a:buChar char="•"/>
            </a:pPr>
            <a:r>
              <a:rPr lang="en-GB" sz="900" b="1" dirty="0"/>
              <a:t>Europe-Russia rearmament</a:t>
            </a:r>
            <a:r>
              <a:rPr lang="en-GB" sz="900" dirty="0"/>
              <a:t>: Germany-led defence spending — more Chemring Nobel contracts likely</a:t>
            </a:r>
          </a:p>
          <a:p>
            <a:pPr marL="114294" indent="-114294">
              <a:lnSpc>
                <a:spcPct val="100000"/>
              </a:lnSpc>
              <a:spcAft>
                <a:spcPts val="0"/>
              </a:spcAft>
              <a:buSzPct val="100000"/>
              <a:buChar char="•"/>
            </a:pPr>
            <a:r>
              <a:rPr lang="en-GB" sz="900" b="1" dirty="0"/>
              <a:t>Potential bid scenario</a:t>
            </a:r>
            <a:r>
              <a:rPr lang="en-GB" sz="900" dirty="0"/>
              <a:t>: Albion River at 13.0% after Bain's rejected 390p approach (Feb-25)</a:t>
            </a:r>
          </a:p>
          <a:p>
            <a:pPr marL="114294" indent="-114294">
              <a:lnSpc>
                <a:spcPct val="100000"/>
              </a:lnSpc>
              <a:spcAft>
                <a:spcPts val="0"/>
              </a:spcAft>
              <a:buSzPct val="100000"/>
              <a:buChar char="•"/>
            </a:pPr>
            <a:endParaRPr lang="en-US" sz="900" dirty="0"/>
          </a:p>
        </p:txBody>
      </p:sp>
      <p:sp>
        <p:nvSpPr>
          <p:cNvPr id="45" name="Text 42"/>
          <p:cNvSpPr txBox="1"/>
          <p:nvPr/>
        </p:nvSpPr>
        <p:spPr>
          <a:xfrm>
            <a:off x="7096609" y="6280743"/>
            <a:ext cx="30539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294" indent="-114294">
              <a:lnSpc>
                <a:spcPct val="98000"/>
              </a:lnSpc>
              <a:spcAft>
                <a:spcPts val="0"/>
              </a:spcAft>
              <a:buSzPct val="100000"/>
              <a:buChar char="•"/>
            </a:pPr>
            <a:r>
              <a:rPr sz="900" b="1" dirty="0">
                <a:latin typeface="Calibri"/>
              </a:rPr>
              <a:t>Norway plant delays</a:t>
            </a:r>
            <a:endParaRPr lang="en-GB" sz="900" b="1" dirty="0">
              <a:latin typeface="Calibri"/>
            </a:endParaRPr>
          </a:p>
          <a:p>
            <a:pPr>
              <a:lnSpc>
                <a:spcPct val="98000"/>
              </a:lnSpc>
              <a:spcAft>
                <a:spcPts val="0"/>
              </a:spcAft>
              <a:buSzPct val="100000"/>
            </a:pPr>
            <a:endParaRPr lang="en-US" sz="900" dirty="0"/>
          </a:p>
          <a:p>
            <a:pPr marL="114294" indent="-114294">
              <a:lnSpc>
                <a:spcPct val="98000"/>
              </a:lnSpc>
              <a:spcAft>
                <a:spcPts val="0"/>
              </a:spcAft>
              <a:buSzPct val="100000"/>
              <a:buChar char="•"/>
            </a:pPr>
            <a:r>
              <a:rPr sz="900" b="1" dirty="0">
                <a:latin typeface="Calibri"/>
              </a:rPr>
              <a:t>Valuation already stretched</a:t>
            </a:r>
            <a:endParaRPr sz="900" b="0" dirty="0">
              <a:latin typeface="Calibri"/>
            </a:endParaRPr>
          </a:p>
        </p:txBody>
      </p:sp>
      <p:sp>
        <p:nvSpPr>
          <p:cNvPr id="3" name="Shape 21">
            <a:extLst>
              <a:ext uri="{FF2B5EF4-FFF2-40B4-BE49-F238E27FC236}">
                <a16:creationId xmlns:a16="http://schemas.microsoft.com/office/drawing/2014/main" id="{11A30B8F-AA57-B29E-4884-CF31BB713949}"/>
              </a:ext>
            </a:extLst>
          </p:cNvPr>
          <p:cNvSpPr/>
          <p:nvPr/>
        </p:nvSpPr>
        <p:spPr>
          <a:xfrm>
            <a:off x="10318120" y="1835576"/>
            <a:ext cx="0" cy="36576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2">
            <a:extLst>
              <a:ext uri="{FF2B5EF4-FFF2-40B4-BE49-F238E27FC236}">
                <a16:creationId xmlns:a16="http://schemas.microsoft.com/office/drawing/2014/main" id="{CBE5003C-B348-2622-CF56-5464E0EC8A10}"/>
              </a:ext>
            </a:extLst>
          </p:cNvPr>
          <p:cNvSpPr txBox="1"/>
          <p:nvPr/>
        </p:nvSpPr>
        <p:spPr>
          <a:xfrm>
            <a:off x="10419588" y="1762424"/>
            <a:ext cx="1772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351" b="1" dirty="0">
                <a:latin typeface="Calibri"/>
              </a:rPr>
              <a:t>540</a:t>
            </a:r>
            <a:r>
              <a:rPr lang="en-GB" sz="1351" b="1" dirty="0">
                <a:latin typeface="Calibri"/>
              </a:rPr>
              <a:t>p</a:t>
            </a:r>
            <a:endParaRPr sz="1351" b="1" dirty="0">
              <a:latin typeface="Calibri"/>
            </a:endParaRPr>
          </a:p>
        </p:txBody>
      </p:sp>
      <p:sp>
        <p:nvSpPr>
          <p:cNvPr id="46" name="Text 23">
            <a:extLst>
              <a:ext uri="{FF2B5EF4-FFF2-40B4-BE49-F238E27FC236}">
                <a16:creationId xmlns:a16="http://schemas.microsoft.com/office/drawing/2014/main" id="{664D23E0-74AB-DDAE-92D6-33368BD39E7D}"/>
              </a:ext>
            </a:extLst>
          </p:cNvPr>
          <p:cNvSpPr txBox="1"/>
          <p:nvPr/>
        </p:nvSpPr>
        <p:spPr>
          <a:xfrm>
            <a:off x="10419588" y="2018456"/>
            <a:ext cx="17724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751" b="0" dirty="0">
                <a:latin typeface="Calibri"/>
              </a:rPr>
              <a:t>Current price 1</a:t>
            </a:r>
            <a:r>
              <a:rPr lang="en-GB" sz="751" b="0" dirty="0">
                <a:latin typeface="Calibri"/>
              </a:rPr>
              <a:t>5</a:t>
            </a:r>
            <a:r>
              <a:rPr sz="751" b="0" dirty="0">
                <a:latin typeface="Calibri"/>
              </a:rPr>
              <a:t>/9/26</a:t>
            </a:r>
            <a:endParaRPr lang="en-US" sz="751" dirty="0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"/>
            <a:ext cx="12192000" cy="8575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C5F79F0-3D44-126C-A000-1EBAA9139E2D}"/>
              </a:ext>
            </a:extLst>
          </p:cNvPr>
          <p:cNvSpPr txBox="1"/>
          <p:nvPr/>
        </p:nvSpPr>
        <p:spPr>
          <a:xfrm>
            <a:off x="9280862" y="6220506"/>
            <a:ext cx="3209541" cy="635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294" indent="-114294">
              <a:lnSpc>
                <a:spcPct val="98000"/>
              </a:lnSpc>
              <a:spcAft>
                <a:spcPts val="0"/>
              </a:spcAft>
              <a:buSzPct val="100000"/>
              <a:buChar char="•"/>
            </a:pPr>
            <a:r>
              <a:rPr lang="en-GB" sz="900" b="1" dirty="0"/>
              <a:t>Ukraine ceasefire risk</a:t>
            </a:r>
          </a:p>
          <a:p>
            <a:pPr>
              <a:lnSpc>
                <a:spcPct val="98000"/>
              </a:lnSpc>
              <a:spcAft>
                <a:spcPts val="0"/>
              </a:spcAft>
              <a:buSzPct val="100000"/>
            </a:pPr>
            <a:r>
              <a:rPr lang="en-GB" sz="900" b="1" dirty="0"/>
              <a:t> </a:t>
            </a:r>
          </a:p>
          <a:p>
            <a:pPr marL="114294" indent="-114294">
              <a:lnSpc>
                <a:spcPct val="98000"/>
              </a:lnSpc>
              <a:spcAft>
                <a:spcPts val="0"/>
              </a:spcAft>
              <a:buSzPct val="100000"/>
              <a:buChar char="•"/>
            </a:pPr>
            <a:r>
              <a:rPr lang="en-GB" sz="900" b="1" dirty="0"/>
              <a:t>Capex / FX inflation</a:t>
            </a:r>
          </a:p>
          <a:p>
            <a:pPr>
              <a:lnSpc>
                <a:spcPct val="98000"/>
              </a:lnSpc>
              <a:spcAft>
                <a:spcPts val="0"/>
              </a:spcAft>
              <a:buSzPct val="100000"/>
            </a:pPr>
            <a:endParaRPr lang="en-GB" sz="900" dirty="0"/>
          </a:p>
        </p:txBody>
      </p:sp>
      <p:sp>
        <p:nvSpPr>
          <p:cNvPr id="6" name="Text 27">
            <a:extLst>
              <a:ext uri="{FF2B5EF4-FFF2-40B4-BE49-F238E27FC236}">
                <a16:creationId xmlns:a16="http://schemas.microsoft.com/office/drawing/2014/main" id="{8A18E8F1-19E7-18CB-7E94-DBB2F5EBC8D1}"/>
              </a:ext>
            </a:extLst>
          </p:cNvPr>
          <p:cNvSpPr txBox="1"/>
          <p:nvPr/>
        </p:nvSpPr>
        <p:spPr>
          <a:xfrm>
            <a:off x="6370633" y="272689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900" b="1" dirty="0">
                <a:latin typeface="Calibri"/>
              </a:rPr>
              <a:t>KEY CONTRACTS</a:t>
            </a:r>
            <a:endParaRPr lang="en-US" sz="900" dirty="0"/>
          </a:p>
        </p:txBody>
      </p:sp>
      <p:sp>
        <p:nvSpPr>
          <p:cNvPr id="47" name="Text 28">
            <a:extLst>
              <a:ext uri="{FF2B5EF4-FFF2-40B4-BE49-F238E27FC236}">
                <a16:creationId xmlns:a16="http://schemas.microsoft.com/office/drawing/2014/main" id="{C31B3219-F97C-49B0-1C1B-ECED83C9553E}"/>
              </a:ext>
            </a:extLst>
          </p:cNvPr>
          <p:cNvSpPr txBox="1"/>
          <p:nvPr/>
        </p:nvSpPr>
        <p:spPr>
          <a:xfrm>
            <a:off x="6314190" y="3095705"/>
            <a:ext cx="2170211" cy="1743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sz="900" b="1" dirty="0"/>
              <a:t>Project STORM</a:t>
            </a:r>
            <a:r>
              <a:rPr lang="en-GB" sz="900" dirty="0"/>
              <a:t> → £251m/6yrs, UK missile-defence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sz="900" b="1" dirty="0"/>
              <a:t>Land ISTAR</a:t>
            </a:r>
            <a:r>
              <a:rPr lang="en-GB" sz="900" dirty="0"/>
              <a:t> → UK Army surveillance &amp; target acquisition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sz="900" b="1" dirty="0"/>
              <a:t>Project ZODIAC</a:t>
            </a:r>
            <a:r>
              <a:rPr lang="en-GB" sz="900" dirty="0"/>
              <a:t> → UK MoD contract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sz="900" b="1" dirty="0"/>
              <a:t>Chemring Nobel doubling</a:t>
            </a:r>
            <a:r>
              <a:rPr lang="en-GB" sz="900" dirty="0"/>
              <a:t> → co-funded by Norway + EU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BB133E8-65C0-437D-99DB-D9543754F912}"/>
              </a:ext>
            </a:extLst>
          </p:cNvPr>
          <p:cNvSpPr txBox="1"/>
          <p:nvPr/>
        </p:nvSpPr>
        <p:spPr>
          <a:xfrm>
            <a:off x="6217174" y="4594372"/>
            <a:ext cx="55654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900" b="1" dirty="0">
                <a:latin typeface="Calibri"/>
              </a:rPr>
              <a:t>Sum-of-the-parts: </a:t>
            </a:r>
            <a:r>
              <a:rPr lang="en-GB" sz="900" b="0" dirty="0">
                <a:latin typeface="Calibri"/>
              </a:rPr>
              <a:t>Explosives &amp; Countermeasures £86m × 13x + Roke £41m × 16x − £20m HQ × 13x → £1,514m EV → 520p/share.</a:t>
            </a:r>
          </a:p>
          <a:p>
            <a:r>
              <a:rPr lang="en-GB" sz="900" b="1" dirty="0">
                <a:latin typeface="Calibri"/>
              </a:rPr>
              <a:t>Re-rating trigger</a:t>
            </a:r>
            <a:r>
              <a:rPr lang="en-GB" sz="900" dirty="0"/>
              <a:t>: confirmed FY2027 free cash-flow inflection and Alloy Surfaces re-integration could close the discount to defence-sector peers on ~25-28x P/E.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Text 5"/>
          <p:cNvSpPr txBox="1"/>
          <p:nvPr/>
        </p:nvSpPr>
        <p:spPr>
          <a:xfrm>
            <a:off x="355735" y="874367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300" b="1" dirty="0">
                <a:latin typeface="Cambria" panose="02040503050406030204" pitchFamily="18" charset="0"/>
              </a:rPr>
              <a:t>NEO PERFORMANCE MATERIALS</a:t>
            </a:r>
            <a:endParaRPr lang="en-US" sz="2300" dirty="0">
              <a:latin typeface="Cambria" panose="020405030504060302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409275" y="1368143"/>
            <a:ext cx="11457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0"/>
              </a:spcAft>
            </a:pPr>
            <a:r>
              <a:rPr sz="950" b="1" dirty="0">
                <a:latin typeface="Calibri"/>
              </a:rPr>
              <a:t>A Canadian company positioned to become a key European rare-earth-to-magnet supplier. </a:t>
            </a:r>
            <a:r>
              <a:rPr sz="950" b="0" dirty="0">
                <a:latin typeface="Calibri"/>
              </a:rPr>
              <a:t>Narva + Silmet + European Tier-1 customers give NEO a strategic role in Europe's drive to reduce Chinese magnet dependence.</a:t>
            </a:r>
            <a:endParaRPr lang="en-US" sz="951" dirty="0"/>
          </a:p>
        </p:txBody>
      </p:sp>
      <p:sp>
        <p:nvSpPr>
          <p:cNvPr id="9" name="Text 7"/>
          <p:cNvSpPr txBox="1"/>
          <p:nvPr/>
        </p:nvSpPr>
        <p:spPr>
          <a:xfrm>
            <a:off x="514186" y="1784080"/>
            <a:ext cx="15063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351" b="1">
                <a:latin typeface="Calibri"/>
              </a:rPr>
              <a:t>$146m</a:t>
            </a:r>
            <a:endParaRPr lang="en-US" sz="1351" dirty="0"/>
          </a:p>
        </p:txBody>
      </p:sp>
      <p:sp>
        <p:nvSpPr>
          <p:cNvPr id="10" name="Text 8"/>
          <p:cNvSpPr txBox="1"/>
          <p:nvPr/>
        </p:nvSpPr>
        <p:spPr>
          <a:xfrm>
            <a:off x="514187" y="2040112"/>
            <a:ext cx="17724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751" b="0">
                <a:latin typeface="Calibri"/>
              </a:rPr>
              <a:t>Adj. EBITDA FY27E</a:t>
            </a:r>
            <a:endParaRPr lang="en-US" sz="751" dirty="0"/>
          </a:p>
        </p:txBody>
      </p:sp>
      <p:sp>
        <p:nvSpPr>
          <p:cNvPr id="11" name="Shape 9"/>
          <p:cNvSpPr/>
          <p:nvPr/>
        </p:nvSpPr>
        <p:spPr>
          <a:xfrm>
            <a:off x="2087796" y="1848968"/>
            <a:ext cx="0" cy="36576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2189264" y="1775816"/>
            <a:ext cx="1772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351" b="1">
                <a:latin typeface="Calibri"/>
              </a:rPr>
              <a:t>~$1.06bn</a:t>
            </a:r>
            <a:endParaRPr lang="en-US" sz="1351" dirty="0"/>
          </a:p>
        </p:txBody>
      </p:sp>
      <p:sp>
        <p:nvSpPr>
          <p:cNvPr id="13" name="Text 11"/>
          <p:cNvSpPr txBox="1"/>
          <p:nvPr/>
        </p:nvSpPr>
        <p:spPr>
          <a:xfrm>
            <a:off x="2178631" y="2031848"/>
            <a:ext cx="17724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800" dirty="0" err="1"/>
              <a:t>Entreprise</a:t>
            </a:r>
            <a:r>
              <a:rPr lang="en-GB" sz="800" dirty="0"/>
              <a:t> Value 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758742" y="1848968"/>
            <a:ext cx="0" cy="36576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 txBox="1"/>
          <p:nvPr/>
        </p:nvSpPr>
        <p:spPr>
          <a:xfrm>
            <a:off x="3860208" y="1775816"/>
            <a:ext cx="1772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351" b="1">
                <a:latin typeface="Calibri"/>
              </a:rPr>
              <a:t>$61m · 0.4x</a:t>
            </a:r>
            <a:endParaRPr lang="en-US" sz="1351" dirty="0"/>
          </a:p>
        </p:txBody>
      </p:sp>
      <p:sp>
        <p:nvSpPr>
          <p:cNvPr id="16" name="Text 14"/>
          <p:cNvSpPr txBox="1"/>
          <p:nvPr/>
        </p:nvSpPr>
        <p:spPr>
          <a:xfrm>
            <a:off x="3860208" y="2031848"/>
            <a:ext cx="17724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751" b="0">
                <a:latin typeface="Calibri"/>
              </a:rPr>
              <a:t>Net debt · leverage</a:t>
            </a:r>
            <a:endParaRPr lang="en-US" sz="751" dirty="0"/>
          </a:p>
        </p:txBody>
      </p:sp>
      <p:sp>
        <p:nvSpPr>
          <p:cNvPr id="17" name="Shape 15"/>
          <p:cNvSpPr/>
          <p:nvPr/>
        </p:nvSpPr>
        <p:spPr>
          <a:xfrm>
            <a:off x="5558992" y="1835576"/>
            <a:ext cx="0" cy="36576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5734087" y="1775816"/>
            <a:ext cx="1772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351" b="1" dirty="0">
                <a:latin typeface="Calibri"/>
              </a:rPr>
              <a:t>7.</a:t>
            </a:r>
            <a:r>
              <a:rPr lang="en-GB" sz="1351" b="1" dirty="0">
                <a:latin typeface="Calibri"/>
              </a:rPr>
              <a:t>4</a:t>
            </a:r>
            <a:r>
              <a:rPr sz="1351" b="1" dirty="0">
                <a:latin typeface="Calibri"/>
              </a:rPr>
              <a:t>x</a:t>
            </a:r>
            <a:endParaRPr lang="en-US" sz="1351" dirty="0"/>
          </a:p>
        </p:txBody>
      </p:sp>
      <p:sp>
        <p:nvSpPr>
          <p:cNvPr id="19" name="Text 17"/>
          <p:cNvSpPr txBox="1"/>
          <p:nvPr/>
        </p:nvSpPr>
        <p:spPr>
          <a:xfrm>
            <a:off x="5734087" y="2031848"/>
            <a:ext cx="17724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751" b="0">
                <a:latin typeface="Calibri"/>
              </a:rPr>
              <a:t>FY27E EV/EBITDA</a:t>
            </a:r>
            <a:endParaRPr lang="en-US" sz="751" dirty="0"/>
          </a:p>
        </p:txBody>
      </p:sp>
      <p:sp>
        <p:nvSpPr>
          <p:cNvPr id="20" name="Shape 18"/>
          <p:cNvSpPr/>
          <p:nvPr/>
        </p:nvSpPr>
        <p:spPr>
          <a:xfrm>
            <a:off x="7297830" y="1848968"/>
            <a:ext cx="0" cy="36576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 txBox="1"/>
          <p:nvPr/>
        </p:nvSpPr>
        <p:spPr>
          <a:xfrm>
            <a:off x="7399296" y="1775816"/>
            <a:ext cx="1772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351" b="1" dirty="0">
                <a:latin typeface="Calibri"/>
              </a:rPr>
              <a:t>C$37.2</a:t>
            </a:r>
            <a:r>
              <a:rPr lang="en-GB" sz="1351" b="1" dirty="0">
                <a:latin typeface="Calibri"/>
              </a:rPr>
              <a:t>0</a:t>
            </a:r>
            <a:endParaRPr lang="en-US" sz="1351" dirty="0"/>
          </a:p>
        </p:txBody>
      </p:sp>
      <p:sp>
        <p:nvSpPr>
          <p:cNvPr id="22" name="Text 20"/>
          <p:cNvSpPr txBox="1"/>
          <p:nvPr/>
        </p:nvSpPr>
        <p:spPr>
          <a:xfrm>
            <a:off x="7399296" y="2031848"/>
            <a:ext cx="17724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751" b="0">
                <a:latin typeface="Calibri"/>
              </a:rPr>
              <a:t>Base target price</a:t>
            </a:r>
            <a:endParaRPr lang="en-US" sz="751" dirty="0"/>
          </a:p>
        </p:txBody>
      </p:sp>
      <p:sp>
        <p:nvSpPr>
          <p:cNvPr id="23" name="Shape 21"/>
          <p:cNvSpPr/>
          <p:nvPr/>
        </p:nvSpPr>
        <p:spPr>
          <a:xfrm>
            <a:off x="8963041" y="1838944"/>
            <a:ext cx="0" cy="36576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 txBox="1"/>
          <p:nvPr/>
        </p:nvSpPr>
        <p:spPr>
          <a:xfrm>
            <a:off x="9064508" y="1765792"/>
            <a:ext cx="1772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351" b="1" dirty="0">
                <a:latin typeface="Calibri"/>
              </a:rPr>
              <a:t>+20.</a:t>
            </a:r>
            <a:r>
              <a:rPr lang="en-GB" sz="1351" b="1" dirty="0">
                <a:latin typeface="Calibri"/>
              </a:rPr>
              <a:t>9</a:t>
            </a:r>
            <a:r>
              <a:rPr sz="1351" b="1" dirty="0">
                <a:latin typeface="Calibri"/>
              </a:rPr>
              <a:t>%</a:t>
            </a:r>
            <a:endParaRPr lang="en-US" sz="1351" dirty="0"/>
          </a:p>
        </p:txBody>
      </p:sp>
      <p:sp>
        <p:nvSpPr>
          <p:cNvPr id="25" name="Text 23"/>
          <p:cNvSpPr txBox="1"/>
          <p:nvPr/>
        </p:nvSpPr>
        <p:spPr>
          <a:xfrm>
            <a:off x="9064508" y="2021824"/>
            <a:ext cx="17724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751" b="0">
                <a:latin typeface="Calibri"/>
              </a:rPr>
              <a:t>Upside vs current</a:t>
            </a:r>
            <a:endParaRPr lang="en-US" sz="751" dirty="0"/>
          </a:p>
        </p:txBody>
      </p:sp>
      <p:sp>
        <p:nvSpPr>
          <p:cNvPr id="26" name="Shape 24"/>
          <p:cNvSpPr/>
          <p:nvPr/>
        </p:nvSpPr>
        <p:spPr>
          <a:xfrm>
            <a:off x="365760" y="2239798"/>
            <a:ext cx="11457432" cy="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396200" y="2390434"/>
            <a:ext cx="5029200" cy="237744"/>
          </a:xfrm>
          <a:prstGeom prst="rect">
            <a:avLst/>
          </a:prstGeom>
          <a:solidFill>
            <a:srgbClr val="1F2A44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28" name="Text 26"/>
          <p:cNvSpPr txBox="1"/>
          <p:nvPr/>
        </p:nvSpPr>
        <p:spPr>
          <a:xfrm>
            <a:off x="365760" y="239625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950" b="1" dirty="0">
                <a:solidFill>
                  <a:schemeClr val="bg1"/>
                </a:solidFill>
                <a:latin typeface="Calibri"/>
              </a:rPr>
              <a:t>BUSINESS &amp; INVESTMENT CASE</a:t>
            </a:r>
            <a:endParaRPr lang="en-US" sz="951" dirty="0">
              <a:solidFill>
                <a:schemeClr val="bg1"/>
              </a:solidFill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365760" y="270267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 b="1" dirty="0">
                <a:latin typeface="Calibri"/>
              </a:rPr>
              <a:t>WHAT IT DOES  · EBITDA</a:t>
            </a:r>
            <a:r>
              <a:rPr lang="en-GB" sz="900" b="1" dirty="0">
                <a:latin typeface="Calibri"/>
              </a:rPr>
              <a:t> CONTRIBUTION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397544" y="2988893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294" indent="-114294">
              <a:lnSpc>
                <a:spcPct val="98000"/>
              </a:lnSpc>
              <a:spcAft>
                <a:spcPts val="0"/>
              </a:spcAft>
              <a:buSzPct val="100000"/>
              <a:buChar char="•"/>
            </a:pPr>
            <a:r>
              <a:rPr sz="900" b="1" dirty="0">
                <a:latin typeface="Calibri"/>
              </a:rPr>
              <a:t>Magnequench — $28.4m </a:t>
            </a:r>
            <a:r>
              <a:rPr sz="900" b="0" dirty="0">
                <a:latin typeface="Calibri"/>
              </a:rPr>
              <a:t>magnetic powders &amp; magnets; the European growth engine through Narva</a:t>
            </a:r>
            <a:endParaRPr lang="en-US" sz="900" dirty="0"/>
          </a:p>
          <a:p>
            <a:pPr marL="114294" indent="-114294">
              <a:lnSpc>
                <a:spcPct val="98000"/>
              </a:lnSpc>
              <a:spcAft>
                <a:spcPts val="0"/>
              </a:spcAft>
              <a:buSzPct val="100000"/>
              <a:buChar char="•"/>
            </a:pPr>
            <a:r>
              <a:rPr sz="900" b="1" dirty="0">
                <a:latin typeface="Calibri"/>
              </a:rPr>
              <a:t>Chemicals &amp; Oxides — $23.4m </a:t>
            </a:r>
            <a:r>
              <a:rPr sz="900" b="0" dirty="0">
                <a:latin typeface="Calibri"/>
              </a:rPr>
              <a:t>rare-earth chemicals/oxides; Silmet provides European separation capability</a:t>
            </a:r>
            <a:endParaRPr lang="en-GB" sz="900" b="0" dirty="0">
              <a:latin typeface="Calibri"/>
            </a:endParaRPr>
          </a:p>
          <a:p>
            <a:pPr marL="114294" indent="-114294">
              <a:lnSpc>
                <a:spcPct val="98000"/>
              </a:lnSpc>
              <a:spcAft>
                <a:spcPts val="0"/>
              </a:spcAft>
              <a:buSzPct val="100000"/>
              <a:buChar char="•"/>
            </a:pPr>
            <a:r>
              <a:rPr sz="900" b="1" dirty="0">
                <a:latin typeface="Calibri"/>
              </a:rPr>
              <a:t>Rare Metals — $43.2m </a:t>
            </a:r>
            <a:r>
              <a:rPr sz="900" b="0" dirty="0">
                <a:latin typeface="Calibri"/>
              </a:rPr>
              <a:t>hafnium, gallium, tantalum; current earnings engine across aerospace &amp; semiconductors</a:t>
            </a:r>
          </a:p>
        </p:txBody>
      </p:sp>
      <p:sp>
        <p:nvSpPr>
          <p:cNvPr id="31" name="Text 29"/>
          <p:cNvSpPr txBox="1"/>
          <p:nvPr/>
        </p:nvSpPr>
        <p:spPr>
          <a:xfrm>
            <a:off x="397544" y="3831427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 b="1" dirty="0">
                <a:latin typeface="Calibri"/>
              </a:rPr>
              <a:t>WHAT CHANGED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380308" y="4038777"/>
            <a:ext cx="50609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294" indent="-114294">
              <a:lnSpc>
                <a:spcPct val="98000"/>
              </a:lnSpc>
              <a:spcAft>
                <a:spcPts val="0"/>
              </a:spcAft>
              <a:buSzPct val="100000"/>
              <a:buChar char="•"/>
            </a:pPr>
            <a:r>
              <a:rPr sz="900" b="1" dirty="0">
                <a:latin typeface="Calibri"/>
              </a:rPr>
              <a:t>Europe's supply-chain gap: </a:t>
            </a:r>
            <a:r>
              <a:rPr sz="900" b="0" dirty="0">
                <a:latin typeface="Calibri"/>
              </a:rPr>
              <a:t>~25kt of permanent magnets imported annually, ~99% from China; demand could reach ~73kt by 2035</a:t>
            </a:r>
            <a:endParaRPr lang="en-US" sz="900" dirty="0"/>
          </a:p>
          <a:p>
            <a:pPr marL="114294" indent="-114294">
              <a:lnSpc>
                <a:spcPct val="98000"/>
              </a:lnSpc>
              <a:spcAft>
                <a:spcPts val="0"/>
              </a:spcAft>
              <a:buSzPct val="100000"/>
              <a:buChar char="•"/>
            </a:pPr>
            <a:r>
              <a:rPr sz="900" b="1" dirty="0">
                <a:latin typeface="Calibri"/>
              </a:rPr>
              <a:t>Local capacity: </a:t>
            </a:r>
            <a:r>
              <a:rPr sz="900" b="0" dirty="0">
                <a:latin typeface="Calibri"/>
              </a:rPr>
              <a:t>Narva starts at ~2kt/year → &gt;5kt Phase 1B → potential 20kt long term</a:t>
            </a:r>
            <a:endParaRPr lang="en-GB" sz="900" b="0" dirty="0">
              <a:latin typeface="Calibri"/>
            </a:endParaRPr>
          </a:p>
          <a:p>
            <a:pPr marL="114294" indent="-114294">
              <a:lnSpc>
                <a:spcPct val="98000"/>
              </a:lnSpc>
              <a:spcAft>
                <a:spcPts val="0"/>
              </a:spcAft>
              <a:buSzPct val="100000"/>
              <a:buChar char="•"/>
            </a:pPr>
            <a:r>
              <a:rPr sz="900" b="1" dirty="0">
                <a:latin typeface="Calibri"/>
              </a:rPr>
              <a:t>Demand visibility: </a:t>
            </a:r>
            <a:r>
              <a:rPr sz="900" b="0" dirty="0">
                <a:latin typeface="Calibri"/>
              </a:rPr>
              <a:t>Tier-1 #1 covers ~35% of Phase 1 capacity; Tier-1 #2 represents ~$50m cumulative revenue; Bosch + Schaeffler</a:t>
            </a:r>
            <a:endParaRPr lang="en-GB" sz="900" b="0" dirty="0">
              <a:latin typeface="Calibri"/>
            </a:endParaRPr>
          </a:p>
          <a:p>
            <a:pPr marL="114294" indent="-114294">
              <a:lnSpc>
                <a:spcPct val="98000"/>
              </a:lnSpc>
              <a:spcAft>
                <a:spcPts val="0"/>
              </a:spcAft>
              <a:buSzPct val="100000"/>
              <a:buChar char="•"/>
            </a:pPr>
            <a:r>
              <a:rPr sz="900" b="1" dirty="0">
                <a:latin typeface="Calibri"/>
              </a:rPr>
              <a:t>Integrated platform: </a:t>
            </a:r>
            <a:r>
              <a:rPr sz="900" b="0" dirty="0">
                <a:latin typeface="Calibri"/>
              </a:rPr>
              <a:t>Silmet separation → Narva magnets → </a:t>
            </a:r>
            <a:r>
              <a:rPr sz="900" b="0" dirty="0" err="1">
                <a:latin typeface="Calibri"/>
              </a:rPr>
              <a:t>Carester</a:t>
            </a:r>
            <a:r>
              <a:rPr sz="900" b="0" dirty="0">
                <a:latin typeface="Calibri"/>
              </a:rPr>
              <a:t> </a:t>
            </a:r>
            <a:r>
              <a:rPr lang="en-GB" sz="900" dirty="0"/>
              <a:t>dysprosium/terbium </a:t>
            </a:r>
            <a:r>
              <a:rPr sz="900" b="0" dirty="0">
                <a:latin typeface="Calibri"/>
              </a:rPr>
              <a:t>+ recycling, creating a localized European chain</a:t>
            </a:r>
          </a:p>
        </p:txBody>
      </p:sp>
      <p:sp>
        <p:nvSpPr>
          <p:cNvPr id="33" name="Text 31"/>
          <p:cNvSpPr txBox="1"/>
          <p:nvPr/>
        </p:nvSpPr>
        <p:spPr>
          <a:xfrm>
            <a:off x="397544" y="5062473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 b="1">
                <a:latin typeface="Calibri"/>
              </a:rPr>
              <a:t>VALUATION CROSS-CHECKS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365760" y="534009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294" indent="-114294">
              <a:lnSpc>
                <a:spcPct val="100000"/>
              </a:lnSpc>
              <a:spcAft>
                <a:spcPts val="0"/>
              </a:spcAft>
              <a:buSzPct val="100000"/>
              <a:buChar char="•"/>
            </a:pPr>
            <a:r>
              <a:rPr lang="en-GB" sz="900" b="1" dirty="0"/>
              <a:t>Peer valuation</a:t>
            </a:r>
            <a:r>
              <a:rPr lang="en-GB" sz="900" dirty="0"/>
              <a:t>: Neo trades at ~7.4x 2027E Enterprise Value / EBITDA vs. ~10.3x core peer median → ~28% discount </a:t>
            </a:r>
          </a:p>
          <a:p>
            <a:pPr marL="114294" indent="-114294">
              <a:lnSpc>
                <a:spcPct val="100000"/>
              </a:lnSpc>
              <a:spcAft>
                <a:spcPts val="0"/>
              </a:spcAft>
              <a:buSzPct val="100000"/>
              <a:buChar char="•"/>
            </a:pPr>
            <a:r>
              <a:rPr lang="en-GB" sz="900" b="1" dirty="0"/>
              <a:t>Group valuation</a:t>
            </a:r>
            <a:r>
              <a:rPr lang="en-GB" sz="900" dirty="0"/>
              <a:t>: $146m 2027E EBITDA × ~9x → C$37–38 target, consistent with Sum-of-the-Parts C$37.20</a:t>
            </a:r>
            <a:endParaRPr sz="900" b="0" dirty="0">
              <a:latin typeface="Calibri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258427" y="2399507"/>
            <a:ext cx="5608280" cy="237744"/>
          </a:xfrm>
          <a:prstGeom prst="rect">
            <a:avLst/>
          </a:prstGeom>
          <a:solidFill>
            <a:srgbClr val="1F2A4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 txBox="1"/>
          <p:nvPr/>
        </p:nvSpPr>
        <p:spPr>
          <a:xfrm>
            <a:off x="6270779" y="2399507"/>
            <a:ext cx="556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950" b="1" dirty="0">
                <a:solidFill>
                  <a:schemeClr val="bg1"/>
                </a:solidFill>
                <a:latin typeface="Calibri"/>
              </a:rPr>
              <a:t>VALUATION — EUROPEAN STRATEGIC OPTIONALITY IS NOT FULLY PRICED</a:t>
            </a:r>
            <a:endParaRPr lang="en-US" sz="951" dirty="0">
              <a:solidFill>
                <a:schemeClr val="bg1"/>
              </a:solidFill>
            </a:endParaRPr>
          </a:p>
        </p:txBody>
      </p:sp>
      <p:graphicFrame>
        <p:nvGraphicFramePr>
          <p:cNvPr id="37" name="Chart 0"/>
          <p:cNvGraphicFramePr/>
          <p:nvPr>
            <p:extLst>
              <p:ext uri="{D42A27DB-BD31-4B8C-83A1-F6EECF244321}">
                <p14:modId xmlns:p14="http://schemas.microsoft.com/office/powerpoint/2010/main" val="3761942661"/>
              </p:ext>
            </p:extLst>
          </p:nvPr>
        </p:nvGraphicFramePr>
        <p:xfrm>
          <a:off x="8484401" y="2600655"/>
          <a:ext cx="3482546" cy="2222727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8" name="Shape 35"/>
          <p:cNvSpPr/>
          <p:nvPr/>
        </p:nvSpPr>
        <p:spPr>
          <a:xfrm>
            <a:off x="6248491" y="5505460"/>
            <a:ext cx="5224287" cy="334475"/>
          </a:xfrm>
          <a:prstGeom prst="roundRect">
            <a:avLst>
              <a:gd name="adj" fmla="val 0"/>
            </a:avLst>
          </a:prstGeom>
          <a:solidFill>
            <a:srgbClr val="F5F6F8"/>
          </a:solidFill>
          <a:ln w="9525">
            <a:solidFill>
              <a:srgbClr val="D9DC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6"/>
          <p:cNvSpPr txBox="1"/>
          <p:nvPr/>
        </p:nvSpPr>
        <p:spPr>
          <a:xfrm>
            <a:off x="6314190" y="5297876"/>
            <a:ext cx="509289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1" dirty="0">
                <a:latin typeface="Calibri"/>
              </a:rPr>
              <a:t>The key point: </a:t>
            </a:r>
            <a:r>
              <a:rPr lang="en-GB" sz="900" dirty="0"/>
              <a:t>Neo Performance Materials trades at ~7.4x 2027E Enterprise Value / EBITDA vs. ~10.3x for core peers, despite its growing strategic relevance to Europe’s magnet supply chain.”</a:t>
            </a:r>
            <a:endParaRPr sz="900" b="0" dirty="0">
              <a:latin typeface="Calibri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365760" y="5989380"/>
            <a:ext cx="5577840" cy="237744"/>
          </a:xfrm>
          <a:prstGeom prst="rect">
            <a:avLst/>
          </a:prstGeom>
          <a:solidFill>
            <a:srgbClr val="1F2A4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Text 38"/>
          <p:cNvSpPr txBox="1"/>
          <p:nvPr/>
        </p:nvSpPr>
        <p:spPr>
          <a:xfrm>
            <a:off x="355735" y="6000991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950" b="1" dirty="0">
                <a:solidFill>
                  <a:schemeClr val="bg1"/>
                </a:solidFill>
                <a:latin typeface="Calibri"/>
              </a:rPr>
              <a:t>EUROPEAN CATALYSTS</a:t>
            </a:r>
            <a:endParaRPr lang="en-US" sz="951" dirty="0">
              <a:solidFill>
                <a:schemeClr val="bg1"/>
              </a:solidFill>
            </a:endParaRPr>
          </a:p>
        </p:txBody>
      </p:sp>
      <p:sp>
        <p:nvSpPr>
          <p:cNvPr id="42" name="Shape 39"/>
          <p:cNvSpPr/>
          <p:nvPr/>
        </p:nvSpPr>
        <p:spPr>
          <a:xfrm>
            <a:off x="6218602" y="5983633"/>
            <a:ext cx="5577840" cy="237744"/>
          </a:xfrm>
          <a:prstGeom prst="rect">
            <a:avLst/>
          </a:prstGeom>
          <a:solidFill>
            <a:srgbClr val="1F2A4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3" name="Text 40"/>
          <p:cNvSpPr txBox="1"/>
          <p:nvPr/>
        </p:nvSpPr>
        <p:spPr>
          <a:xfrm>
            <a:off x="6174121" y="5982762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950" b="1" dirty="0">
                <a:solidFill>
                  <a:schemeClr val="bg1"/>
                </a:solidFill>
                <a:latin typeface="Calibri"/>
              </a:rPr>
              <a:t>KEY RISKS</a:t>
            </a:r>
            <a:endParaRPr lang="en-US" sz="951" dirty="0">
              <a:solidFill>
                <a:schemeClr val="bg1"/>
              </a:solidFill>
            </a:endParaRPr>
          </a:p>
        </p:txBody>
      </p:sp>
      <p:sp>
        <p:nvSpPr>
          <p:cNvPr id="44" name="Text 41"/>
          <p:cNvSpPr txBox="1"/>
          <p:nvPr/>
        </p:nvSpPr>
        <p:spPr>
          <a:xfrm>
            <a:off x="355735" y="6258722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294" indent="-114294">
              <a:lnSpc>
                <a:spcPct val="100000"/>
              </a:lnSpc>
              <a:spcAft>
                <a:spcPts val="0"/>
              </a:spcAft>
              <a:buSzPct val="100000"/>
              <a:buChar char="•"/>
            </a:pPr>
            <a:r>
              <a:rPr lang="en-GB" sz="900" b="1" dirty="0"/>
              <a:t>18 Sep 2026</a:t>
            </a:r>
            <a:r>
              <a:rPr lang="en-GB" sz="900" dirty="0"/>
              <a:t> — Dividend record date &amp; </a:t>
            </a:r>
            <a:r>
              <a:rPr lang="en-GB" sz="900" b="1" dirty="0"/>
              <a:t>28 Sep 2026</a:t>
            </a:r>
            <a:r>
              <a:rPr lang="en-GB" sz="900" dirty="0"/>
              <a:t> — Dividend payment</a:t>
            </a:r>
          </a:p>
          <a:p>
            <a:pPr marL="114294" indent="-114294">
              <a:lnSpc>
                <a:spcPct val="100000"/>
              </a:lnSpc>
              <a:spcAft>
                <a:spcPts val="0"/>
              </a:spcAft>
              <a:buSzPct val="100000"/>
              <a:buChar char="•"/>
            </a:pPr>
            <a:r>
              <a:rPr lang="en-GB" sz="900" b="1" dirty="0"/>
              <a:t>~13-14 Nov 2026</a:t>
            </a:r>
            <a:r>
              <a:rPr lang="en-GB" sz="900" dirty="0"/>
              <a:t> – Neo Q3 2026 earnings, focus on Narva (Estonia) magnet plant ramp-up with European Original Equipment Manufacturers/Tier 1 customers</a:t>
            </a:r>
          </a:p>
          <a:p>
            <a:pPr marL="114294" indent="-114294">
              <a:lnSpc>
                <a:spcPct val="100000"/>
              </a:lnSpc>
              <a:spcAft>
                <a:spcPts val="0"/>
              </a:spcAft>
              <a:buSzPct val="100000"/>
              <a:buChar char="•"/>
            </a:pPr>
            <a:r>
              <a:rPr lang="en-GB" sz="900" b="1" dirty="0"/>
              <a:t>~Early Nov 2026</a:t>
            </a:r>
            <a:r>
              <a:rPr lang="en-GB" sz="900" dirty="0"/>
              <a:t> (date TBC) – MP Materials Q3 earnings (correlated peer)</a:t>
            </a:r>
          </a:p>
          <a:p>
            <a:pPr marL="114294" indent="-114294">
              <a:lnSpc>
                <a:spcPct val="100000"/>
              </a:lnSpc>
              <a:spcAft>
                <a:spcPts val="0"/>
              </a:spcAft>
              <a:buSzPct val="100000"/>
              <a:buChar char="•"/>
            </a:pPr>
            <a:endParaRPr lang="en-US" sz="900" dirty="0"/>
          </a:p>
        </p:txBody>
      </p:sp>
      <p:sp>
        <p:nvSpPr>
          <p:cNvPr id="45" name="Text 42"/>
          <p:cNvSpPr txBox="1"/>
          <p:nvPr/>
        </p:nvSpPr>
        <p:spPr>
          <a:xfrm>
            <a:off x="7096609" y="6280743"/>
            <a:ext cx="30539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294" indent="-114294">
              <a:lnSpc>
                <a:spcPct val="98000"/>
              </a:lnSpc>
              <a:spcAft>
                <a:spcPts val="0"/>
              </a:spcAft>
              <a:buSzPct val="100000"/>
              <a:buChar char="•"/>
            </a:pPr>
            <a:r>
              <a:rPr sz="900" b="1" dirty="0">
                <a:latin typeface="Calibri"/>
              </a:rPr>
              <a:t>Rare Metals normalization</a:t>
            </a:r>
            <a:endParaRPr lang="en-GB" sz="900" b="1" dirty="0">
              <a:latin typeface="Calibri"/>
            </a:endParaRPr>
          </a:p>
          <a:p>
            <a:pPr>
              <a:lnSpc>
                <a:spcPct val="98000"/>
              </a:lnSpc>
              <a:spcAft>
                <a:spcPts val="0"/>
              </a:spcAft>
              <a:buSzPct val="100000"/>
            </a:pPr>
            <a:endParaRPr lang="en-US" sz="900" dirty="0"/>
          </a:p>
          <a:p>
            <a:pPr marL="114294" indent="-114294">
              <a:lnSpc>
                <a:spcPct val="98000"/>
              </a:lnSpc>
              <a:spcAft>
                <a:spcPts val="0"/>
              </a:spcAft>
              <a:buSzPct val="100000"/>
              <a:buChar char="•"/>
            </a:pPr>
            <a:r>
              <a:rPr sz="900" b="1" dirty="0">
                <a:latin typeface="Calibri"/>
              </a:rPr>
              <a:t>Narva execution</a:t>
            </a:r>
            <a:endParaRPr sz="900" b="0" dirty="0">
              <a:latin typeface="Calibri"/>
            </a:endParaRPr>
          </a:p>
        </p:txBody>
      </p:sp>
      <p:sp>
        <p:nvSpPr>
          <p:cNvPr id="3" name="Shape 21">
            <a:extLst>
              <a:ext uri="{FF2B5EF4-FFF2-40B4-BE49-F238E27FC236}">
                <a16:creationId xmlns:a16="http://schemas.microsoft.com/office/drawing/2014/main" id="{11A30B8F-AA57-B29E-4884-CF31BB713949}"/>
              </a:ext>
            </a:extLst>
          </p:cNvPr>
          <p:cNvSpPr/>
          <p:nvPr/>
        </p:nvSpPr>
        <p:spPr>
          <a:xfrm>
            <a:off x="10318120" y="1835576"/>
            <a:ext cx="0" cy="36576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2">
            <a:extLst>
              <a:ext uri="{FF2B5EF4-FFF2-40B4-BE49-F238E27FC236}">
                <a16:creationId xmlns:a16="http://schemas.microsoft.com/office/drawing/2014/main" id="{CBE5003C-B348-2622-CF56-5464E0EC8A10}"/>
              </a:ext>
            </a:extLst>
          </p:cNvPr>
          <p:cNvSpPr txBox="1"/>
          <p:nvPr/>
        </p:nvSpPr>
        <p:spPr>
          <a:xfrm>
            <a:off x="10419588" y="1762424"/>
            <a:ext cx="1772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351" b="1" dirty="0">
                <a:latin typeface="Calibri"/>
              </a:rPr>
              <a:t>C$30.</a:t>
            </a:r>
            <a:r>
              <a:rPr lang="en-GB" sz="1351" b="1" dirty="0">
                <a:latin typeface="Calibri"/>
              </a:rPr>
              <a:t>78</a:t>
            </a:r>
            <a:endParaRPr sz="1351" b="1" dirty="0">
              <a:latin typeface="Calibri"/>
            </a:endParaRPr>
          </a:p>
        </p:txBody>
      </p:sp>
      <p:sp>
        <p:nvSpPr>
          <p:cNvPr id="46" name="Text 23">
            <a:extLst>
              <a:ext uri="{FF2B5EF4-FFF2-40B4-BE49-F238E27FC236}">
                <a16:creationId xmlns:a16="http://schemas.microsoft.com/office/drawing/2014/main" id="{664D23E0-74AB-DDAE-92D6-33368BD39E7D}"/>
              </a:ext>
            </a:extLst>
          </p:cNvPr>
          <p:cNvSpPr txBox="1"/>
          <p:nvPr/>
        </p:nvSpPr>
        <p:spPr>
          <a:xfrm>
            <a:off x="10419588" y="2018456"/>
            <a:ext cx="17724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751" b="0" dirty="0">
                <a:latin typeface="Calibri"/>
              </a:rPr>
              <a:t>Current price 1</a:t>
            </a:r>
            <a:r>
              <a:rPr lang="en-GB" sz="751" b="0" dirty="0">
                <a:latin typeface="Calibri"/>
              </a:rPr>
              <a:t>4</a:t>
            </a:r>
            <a:r>
              <a:rPr sz="751" b="0" dirty="0">
                <a:latin typeface="Calibri"/>
              </a:rPr>
              <a:t>/9/26</a:t>
            </a:r>
            <a:endParaRPr lang="en-US" sz="751" dirty="0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"/>
            <a:ext cx="12192000" cy="8575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C5F79F0-3D44-126C-A000-1EBAA9139E2D}"/>
              </a:ext>
            </a:extLst>
          </p:cNvPr>
          <p:cNvSpPr txBox="1"/>
          <p:nvPr/>
        </p:nvSpPr>
        <p:spPr>
          <a:xfrm>
            <a:off x="9280862" y="6220506"/>
            <a:ext cx="3209541" cy="635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294" indent="-114294">
              <a:lnSpc>
                <a:spcPct val="98000"/>
              </a:lnSpc>
              <a:spcAft>
                <a:spcPts val="0"/>
              </a:spcAft>
              <a:buSzPct val="100000"/>
              <a:buChar char="•"/>
            </a:pPr>
            <a:r>
              <a:rPr lang="en-GB" sz="900" b="1" dirty="0"/>
              <a:t>European demand timing</a:t>
            </a:r>
          </a:p>
          <a:p>
            <a:pPr>
              <a:lnSpc>
                <a:spcPct val="98000"/>
              </a:lnSpc>
              <a:spcAft>
                <a:spcPts val="0"/>
              </a:spcAft>
              <a:buSzPct val="100000"/>
            </a:pPr>
            <a:r>
              <a:rPr lang="en-GB" sz="900" b="1" dirty="0"/>
              <a:t> </a:t>
            </a:r>
          </a:p>
          <a:p>
            <a:pPr marL="114294" indent="-114294">
              <a:lnSpc>
                <a:spcPct val="98000"/>
              </a:lnSpc>
              <a:spcAft>
                <a:spcPts val="0"/>
              </a:spcAft>
              <a:buSzPct val="100000"/>
              <a:buChar char="•"/>
            </a:pPr>
            <a:r>
              <a:rPr lang="en-GB" sz="900" b="1" dirty="0"/>
              <a:t>Commodity volatility </a:t>
            </a:r>
          </a:p>
          <a:p>
            <a:pPr>
              <a:lnSpc>
                <a:spcPct val="98000"/>
              </a:lnSpc>
              <a:spcAft>
                <a:spcPts val="0"/>
              </a:spcAft>
              <a:buSzPct val="100000"/>
            </a:pPr>
            <a:endParaRPr lang="en-GB" sz="900" dirty="0"/>
          </a:p>
        </p:txBody>
      </p:sp>
      <p:sp>
        <p:nvSpPr>
          <p:cNvPr id="6" name="Text 27">
            <a:extLst>
              <a:ext uri="{FF2B5EF4-FFF2-40B4-BE49-F238E27FC236}">
                <a16:creationId xmlns:a16="http://schemas.microsoft.com/office/drawing/2014/main" id="{8A18E8F1-19E7-18CB-7E94-DBB2F5EBC8D1}"/>
              </a:ext>
            </a:extLst>
          </p:cNvPr>
          <p:cNvSpPr txBox="1"/>
          <p:nvPr/>
        </p:nvSpPr>
        <p:spPr>
          <a:xfrm>
            <a:off x="6370633" y="272689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900" b="1" dirty="0">
                <a:latin typeface="Calibri"/>
              </a:rPr>
              <a:t>EUROPEAN CUSTOMER VISBILITY </a:t>
            </a:r>
            <a:endParaRPr lang="en-US" sz="900" dirty="0"/>
          </a:p>
        </p:txBody>
      </p:sp>
      <p:sp>
        <p:nvSpPr>
          <p:cNvPr id="47" name="Text 28">
            <a:extLst>
              <a:ext uri="{FF2B5EF4-FFF2-40B4-BE49-F238E27FC236}">
                <a16:creationId xmlns:a16="http://schemas.microsoft.com/office/drawing/2014/main" id="{C31B3219-F97C-49B0-1C1B-ECED83C9553E}"/>
              </a:ext>
            </a:extLst>
          </p:cNvPr>
          <p:cNvSpPr txBox="1"/>
          <p:nvPr/>
        </p:nvSpPr>
        <p:spPr>
          <a:xfrm>
            <a:off x="6314190" y="3095705"/>
            <a:ext cx="2170211" cy="1743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sz="900" b="1" dirty="0"/>
              <a:t>2 European Tier-1 programs</a:t>
            </a:r>
            <a:r>
              <a:rPr lang="en-GB" sz="900" dirty="0"/>
              <a:t> → ~35% of Phase 1 capacity + ~$50m cumulative revenue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sz="900" b="1" dirty="0"/>
              <a:t>Bosch</a:t>
            </a:r>
            <a:r>
              <a:rPr lang="en-GB" sz="900" dirty="0"/>
              <a:t> → multi-year agreement with significant annual capacity reserved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sz="900" b="1" dirty="0"/>
              <a:t>Schaeffler</a:t>
            </a:r>
            <a:r>
              <a:rPr lang="en-GB" sz="900" dirty="0"/>
              <a:t> → magnet development for electric vehicle applications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sz="900" b="1" dirty="0" err="1"/>
              <a:t>Carester</a:t>
            </a:r>
            <a:r>
              <a:rPr lang="en-GB" sz="900" dirty="0"/>
              <a:t> → dysprosium/terbium supply + production scrap recycling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BB133E8-65C0-437D-99DB-D9543754F912}"/>
              </a:ext>
            </a:extLst>
          </p:cNvPr>
          <p:cNvSpPr txBox="1"/>
          <p:nvPr/>
        </p:nvSpPr>
        <p:spPr>
          <a:xfrm>
            <a:off x="6228968" y="4684737"/>
            <a:ext cx="55654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900" b="1" dirty="0">
                <a:latin typeface="Calibri"/>
              </a:rPr>
              <a:t>Base SOTP: </a:t>
            </a:r>
            <a:r>
              <a:rPr lang="en-GB" sz="900" b="0" dirty="0">
                <a:latin typeface="Calibri"/>
              </a:rPr>
              <a:t>C$37.20 target (+20.9%) with differentiated multiples; </a:t>
            </a:r>
            <a:r>
              <a:rPr lang="en-GB" sz="900" b="0" dirty="0" err="1">
                <a:latin typeface="Calibri"/>
              </a:rPr>
              <a:t>Magnequench</a:t>
            </a:r>
            <a:r>
              <a:rPr lang="en-GB" sz="900" b="0" dirty="0">
                <a:latin typeface="Calibri"/>
              </a:rPr>
              <a:t> receives the highest multiple for structural European growth .</a:t>
            </a:r>
          </a:p>
          <a:p>
            <a:r>
              <a:rPr lang="en-GB" sz="900" b="1" dirty="0">
                <a:latin typeface="Calibri"/>
              </a:rPr>
              <a:t>Re-rating trigger</a:t>
            </a:r>
            <a:r>
              <a:rPr lang="en-GB" sz="900" dirty="0"/>
              <a:t>: successful Narva ramp-up and further European customer wins could move Neo Performance Materials from a cyclical materials story toward a strategic European supplier.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5862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6616" y="868680"/>
            <a:ext cx="11475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Perma-Pipe International Holdings (NASDAQ: PPIH)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56616" y="1216152"/>
            <a:ext cx="11475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Small-cap engineered infrastructure niche player (pre-insulated piping, anti-corrosion &amp; leak detection).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Data-center cooling/leak-detection exposure and MENA energy-infrastructure growth are converging with a record backlog — a re-rating case the market has not yet priced.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356616" y="1591056"/>
            <a:ext cx="136131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$210.9m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356616" y="1837944"/>
            <a:ext cx="136131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3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FY26 (+33% YoY)</a:t>
            </a:r>
            <a:endParaRPr lang="en-US" sz="730" dirty="0"/>
          </a:p>
        </p:txBody>
      </p:sp>
      <p:sp>
        <p:nvSpPr>
          <p:cNvPr id="7" name="Text 4"/>
          <p:cNvSpPr/>
          <p:nvPr/>
        </p:nvSpPr>
        <p:spPr>
          <a:xfrm>
            <a:off x="1791081" y="1591056"/>
            <a:ext cx="136131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~$251m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791081" y="1837944"/>
            <a:ext cx="136131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3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cap</a:t>
            </a:r>
            <a:endParaRPr lang="en-US" sz="730" dirty="0"/>
          </a:p>
        </p:txBody>
      </p:sp>
      <p:sp>
        <p:nvSpPr>
          <p:cNvPr id="9" name="Shape 6"/>
          <p:cNvSpPr/>
          <p:nvPr/>
        </p:nvSpPr>
        <p:spPr>
          <a:xfrm>
            <a:off x="1708785" y="1609344"/>
            <a:ext cx="0" cy="45720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25546" y="1591056"/>
            <a:ext cx="136131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$142.3m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225546" y="1837944"/>
            <a:ext cx="136131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3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(record)</a:t>
            </a:r>
            <a:endParaRPr lang="en-US" sz="730" dirty="0"/>
          </a:p>
        </p:txBody>
      </p:sp>
      <p:sp>
        <p:nvSpPr>
          <p:cNvPr id="12" name="Shape 9"/>
          <p:cNvSpPr/>
          <p:nvPr/>
        </p:nvSpPr>
        <p:spPr>
          <a:xfrm>
            <a:off x="3143250" y="1609344"/>
            <a:ext cx="0" cy="45720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60011" y="1591056"/>
            <a:ext cx="136131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~$4.3m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660011" y="1837944"/>
            <a:ext cx="136131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3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debt (low leverage)</a:t>
            </a:r>
            <a:endParaRPr lang="en-US" sz="730" dirty="0"/>
          </a:p>
        </p:txBody>
      </p:sp>
      <p:sp>
        <p:nvSpPr>
          <p:cNvPr id="15" name="Shape 12"/>
          <p:cNvSpPr/>
          <p:nvPr/>
        </p:nvSpPr>
        <p:spPr>
          <a:xfrm>
            <a:off x="4577715" y="1609344"/>
            <a:ext cx="0" cy="45720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94476" y="1591056"/>
            <a:ext cx="136131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~8x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094476" y="1837944"/>
            <a:ext cx="136131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3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EV/EBITDA</a:t>
            </a:r>
            <a:endParaRPr lang="en-US" sz="730" dirty="0"/>
          </a:p>
        </p:txBody>
      </p:sp>
      <p:sp>
        <p:nvSpPr>
          <p:cNvPr id="18" name="Shape 15"/>
          <p:cNvSpPr/>
          <p:nvPr/>
        </p:nvSpPr>
        <p:spPr>
          <a:xfrm>
            <a:off x="6012180" y="1609344"/>
            <a:ext cx="0" cy="45720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28941" y="1591056"/>
            <a:ext cx="136131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~13x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7528941" y="1837944"/>
            <a:ext cx="136131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3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P/E</a:t>
            </a:r>
            <a:endParaRPr lang="en-US" sz="730" dirty="0"/>
          </a:p>
        </p:txBody>
      </p:sp>
      <p:sp>
        <p:nvSpPr>
          <p:cNvPr id="21" name="Shape 18"/>
          <p:cNvSpPr/>
          <p:nvPr/>
        </p:nvSpPr>
        <p:spPr>
          <a:xfrm>
            <a:off x="7446645" y="1609344"/>
            <a:ext cx="0" cy="45720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963406" y="1591056"/>
            <a:ext cx="136131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$2.09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8963406" y="1837944"/>
            <a:ext cx="136131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3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FY26</a:t>
            </a:r>
            <a:endParaRPr lang="en-US" sz="730" dirty="0"/>
          </a:p>
        </p:txBody>
      </p:sp>
      <p:sp>
        <p:nvSpPr>
          <p:cNvPr id="24" name="Shape 21"/>
          <p:cNvSpPr/>
          <p:nvPr/>
        </p:nvSpPr>
        <p:spPr>
          <a:xfrm>
            <a:off x="8881110" y="1609344"/>
            <a:ext cx="0" cy="45720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397871" y="1591056"/>
            <a:ext cx="136131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$30.91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10397871" y="1837944"/>
            <a:ext cx="136131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3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price 9/14/26</a:t>
            </a:r>
            <a:endParaRPr lang="en-US" sz="730" dirty="0"/>
          </a:p>
        </p:txBody>
      </p:sp>
      <p:sp>
        <p:nvSpPr>
          <p:cNvPr id="27" name="Shape 24"/>
          <p:cNvSpPr/>
          <p:nvPr/>
        </p:nvSpPr>
        <p:spPr>
          <a:xfrm>
            <a:off x="10315575" y="1609344"/>
            <a:ext cx="0" cy="45720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56616" y="2139696"/>
            <a:ext cx="11475720" cy="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56616" y="2286000"/>
            <a:ext cx="5532120" cy="22860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0" name="Text 27"/>
          <p:cNvSpPr/>
          <p:nvPr/>
        </p:nvSpPr>
        <p:spPr>
          <a:xfrm>
            <a:off x="356616" y="2286000"/>
            <a:ext cx="5532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GROWTH DRIVERS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263640" y="2286000"/>
            <a:ext cx="5532120" cy="22860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2" name="Text 29"/>
          <p:cNvSpPr/>
          <p:nvPr/>
        </p:nvSpPr>
        <p:spPr>
          <a:xfrm>
            <a:off x="6263640" y="2286000"/>
            <a:ext cx="5532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— SCENARIOS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356616" y="2560320"/>
            <a:ext cx="5532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356616" y="2729484"/>
            <a:ext cx="5532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3000"/>
              </a:lnSpc>
              <a:spcAft>
                <a:spcPts val="200"/>
              </a:spcAft>
              <a:buSzPct val="100000"/>
              <a:buChar char="•"/>
            </a:pPr>
            <a:r>
              <a:rPr lang="en-US" sz="76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 engineered systems: </a:t>
            </a:r>
            <a:pPr indent="0" marL="0">
              <a:lnSpc>
                <a:spcPct val="103000"/>
              </a:lnSpc>
              <a:spcAft>
                <a:spcPts val="200"/>
              </a:spcAft>
              <a:buNone/>
            </a:pPr>
            <a:r>
              <a:rPr lang="en-US" sz="76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pre-insulated piping, anti-corrosion/containment, leak detection (PermAlert) — competes on engineering &amp; execution, not commodity price.</a:t>
            </a:r>
            <a:endParaRPr lang="en-US" sz="760" dirty="0"/>
          </a:p>
          <a:p>
            <a:pPr marL="114300" indent="-114300">
              <a:lnSpc>
                <a:spcPct val="103000"/>
              </a:lnSpc>
              <a:spcAft>
                <a:spcPts val="200"/>
              </a:spcAft>
              <a:buSzPct val="100000"/>
              <a:buChar char="•"/>
            </a:pPr>
            <a:r>
              <a:rPr lang="en-US" sz="76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markets: </a:t>
            </a:r>
            <a:pPr indent="0" marL="0">
              <a:lnSpc>
                <a:spcPct val="103000"/>
              </a:lnSpc>
              <a:spcAft>
                <a:spcPts val="200"/>
              </a:spcAft>
              <a:buNone/>
            </a:pPr>
            <a:r>
              <a:rPr lang="en-US" sz="76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centers, Oil &amp; Gas, energy, district heating/cooling, water infrastructure, industrial.</a:t>
            </a:r>
            <a:endParaRPr lang="en-US" sz="760" dirty="0"/>
          </a:p>
          <a:p>
            <a:pPr marL="114300" indent="-114300">
              <a:lnSpc>
                <a:spcPct val="103000"/>
              </a:lnSpc>
              <a:spcAft>
                <a:spcPts val="200"/>
              </a:spcAft>
              <a:buSzPct val="100000"/>
              <a:buChar char="•"/>
            </a:pPr>
            <a:r>
              <a:rPr lang="en-US" sz="76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Footprint: </a:t>
            </a:r>
            <a:pPr indent="0" marL="0">
              <a:lnSpc>
                <a:spcPct val="103000"/>
              </a:lnSpc>
              <a:spcAft>
                <a:spcPts val="200"/>
              </a:spcAft>
              <a:buNone/>
            </a:pPr>
            <a:r>
              <a:rPr lang="en-US" sz="76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America, MENA (Qatar), India; new Ohio &amp; Qatar capacity to localize production near end markets.</a:t>
            </a:r>
            <a:endParaRPr lang="en-US" sz="760" dirty="0"/>
          </a:p>
        </p:txBody>
      </p:sp>
      <p:sp>
        <p:nvSpPr>
          <p:cNvPr id="35" name="Text 32"/>
          <p:cNvSpPr/>
          <p:nvPr/>
        </p:nvSpPr>
        <p:spPr>
          <a:xfrm>
            <a:off x="356616" y="3442716"/>
            <a:ext cx="5532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ENGINES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356616" y="3611880"/>
            <a:ext cx="5532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3000"/>
              </a:lnSpc>
              <a:spcAft>
                <a:spcPts val="200"/>
              </a:spcAft>
              <a:buSzPct val="100000"/>
              <a:buChar char="•"/>
            </a:pPr>
            <a:r>
              <a:rPr lang="en-US" sz="76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Ohio (Hebron): </a:t>
            </a:r>
            <a:pPr indent="0" marL="0">
              <a:lnSpc>
                <a:spcPct val="103000"/>
              </a:lnSpc>
              <a:spcAft>
                <a:spcPts val="200"/>
              </a:spcAft>
              <a:buNone/>
            </a:pPr>
            <a:r>
              <a:rPr lang="en-US" sz="76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since May-26 and ramping; targets data centers &amp; district cooling; full production early 2027.</a:t>
            </a:r>
            <a:endParaRPr lang="en-US" sz="760" dirty="0"/>
          </a:p>
          <a:p>
            <a:pPr marL="114300" indent="-114300">
              <a:lnSpc>
                <a:spcPct val="103000"/>
              </a:lnSpc>
              <a:spcAft>
                <a:spcPts val="200"/>
              </a:spcAft>
              <a:buSzPct val="100000"/>
              <a:buChar char="•"/>
            </a:pPr>
            <a:r>
              <a:rPr lang="en-US" sz="76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Qatar / MENA: </a:t>
            </a:r>
            <a:pPr indent="0" marL="0">
              <a:lnSpc>
                <a:spcPct val="103000"/>
              </a:lnSpc>
              <a:spcAft>
                <a:spcPts val="200"/>
              </a:spcAft>
              <a:buNone/>
            </a:pPr>
            <a:r>
              <a:rPr lang="en-US" sz="76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ramping to full production early 2027; Saudi Aramco qualification, MENA O&amp;G awards, first major MENA leak-detection project; Jordan MOU with Welspun for a Levant platform (National Water Carrier: potential anchor, not yet in backlog).</a:t>
            </a:r>
            <a:endParaRPr lang="en-US" sz="760" dirty="0"/>
          </a:p>
          <a:p>
            <a:pPr marL="114300" indent="-114300">
              <a:lnSpc>
                <a:spcPct val="103000"/>
              </a:lnSpc>
              <a:spcAft>
                <a:spcPts val="200"/>
              </a:spcAft>
              <a:buSzPct val="100000"/>
              <a:buChar char="•"/>
            </a:pPr>
            <a:r>
              <a:rPr lang="en-US" sz="76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 detection: </a:t>
            </a:r>
            <a:pPr indent="0" marL="0">
              <a:lnSpc>
                <a:spcPct val="103000"/>
              </a:lnSpc>
              <a:spcAft>
                <a:spcPts val="200"/>
              </a:spcAft>
              <a:buNone/>
            </a:pPr>
            <a:r>
              <a:rPr lang="en-US" sz="76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running ahead of plan; NA data-center market seen active through ~2030-31.</a:t>
            </a:r>
            <a:endParaRPr lang="en-US" sz="760" dirty="0"/>
          </a:p>
        </p:txBody>
      </p:sp>
      <p:sp>
        <p:nvSpPr>
          <p:cNvPr id="37" name="Text 34"/>
          <p:cNvSpPr/>
          <p:nvPr/>
        </p:nvSpPr>
        <p:spPr>
          <a:xfrm>
            <a:off x="356616" y="4636008"/>
            <a:ext cx="5532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THESIS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356616" y="4805172"/>
            <a:ext cx="5532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3000"/>
              </a:lnSpc>
              <a:spcAft>
                <a:spcPts val="200"/>
              </a:spcAft>
              <a:buSzPct val="100000"/>
              <a:buChar char="•"/>
            </a:pPr>
            <a:r>
              <a:rPr lang="en-US" sz="76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Backlog &amp; bookings — </a:t>
            </a:r>
            <a:pPr indent="0" marL="0">
              <a:lnSpc>
                <a:spcPct val="103000"/>
              </a:lnSpc>
              <a:spcAft>
                <a:spcPts val="200"/>
              </a:spcAft>
              <a:buNone/>
            </a:pPr>
            <a:r>
              <a:rPr lang="en-US" sz="76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$142.3m backlog + $67.8m Q2 bookings; ~40-50% of backlog seen converting to revenue in Q3.</a:t>
            </a:r>
            <a:endParaRPr lang="en-US" sz="760" dirty="0"/>
          </a:p>
          <a:p>
            <a:pPr marL="114300" indent="-114300">
              <a:lnSpc>
                <a:spcPct val="103000"/>
              </a:lnSpc>
              <a:spcAft>
                <a:spcPts val="200"/>
              </a:spcAft>
              <a:buSzPct val="100000"/>
              <a:buChar char="•"/>
            </a:pPr>
            <a:r>
              <a:rPr lang="en-US" sz="76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AI / data-center infrastructure — </a:t>
            </a:r>
            <a:pPr indent="0" marL="0">
              <a:lnSpc>
                <a:spcPct val="103000"/>
              </a:lnSpc>
              <a:spcAft>
                <a:spcPts val="200"/>
              </a:spcAft>
              <a:buNone/>
            </a:pPr>
            <a:r>
              <a:rPr lang="en-US" sz="76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Ohio ramp targets cooling &amp; leak detection for AI data centers; full production early 2027.</a:t>
            </a:r>
            <a:endParaRPr lang="en-US" sz="760" dirty="0"/>
          </a:p>
          <a:p>
            <a:pPr marL="114300" indent="-114300">
              <a:lnSpc>
                <a:spcPct val="103000"/>
              </a:lnSpc>
              <a:spcAft>
                <a:spcPts val="200"/>
              </a:spcAft>
              <a:buSzPct val="100000"/>
              <a:buChar char="•"/>
            </a:pPr>
            <a:r>
              <a:rPr lang="en-US" sz="76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MENA expansion — </a:t>
            </a:r>
            <a:pPr indent="0" marL="0">
              <a:lnSpc>
                <a:spcPct val="103000"/>
              </a:lnSpc>
              <a:spcAft>
                <a:spcPts val="200"/>
              </a:spcAft>
              <a:buNone/>
            </a:pPr>
            <a:r>
              <a:rPr lang="en-US" sz="76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Qatar ramp + Aramco qualification + Jordan/Welspun JV form a second growth engine.</a:t>
            </a:r>
            <a:endParaRPr lang="en-US" sz="760" dirty="0"/>
          </a:p>
          <a:p>
            <a:pPr marL="114300" indent="-114300">
              <a:lnSpc>
                <a:spcPct val="103000"/>
              </a:lnSpc>
              <a:spcAft>
                <a:spcPts val="200"/>
              </a:spcAft>
              <a:buSzPct val="100000"/>
              <a:buChar char="•"/>
            </a:pPr>
            <a:r>
              <a:rPr lang="en-US" sz="76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Operating leverage — </a:t>
            </a:r>
            <a:pPr indent="0" marL="0">
              <a:lnSpc>
                <a:spcPct val="103000"/>
              </a:lnSpc>
              <a:spcAft>
                <a:spcPts val="200"/>
              </a:spcAft>
              <a:buNone/>
            </a:pPr>
            <a:r>
              <a:rPr lang="en-US" sz="76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Ohio/Qatar start-up costs pressure margins today; rising utilization should lift gross margin above 30% and drive EPS growth.</a:t>
            </a:r>
            <a:endParaRPr lang="en-US" sz="760" dirty="0"/>
          </a:p>
        </p:txBody>
      </p:sp>
      <p:sp>
        <p:nvSpPr>
          <p:cNvPr id="39" name="Text 36"/>
          <p:cNvSpPr/>
          <p:nvPr/>
        </p:nvSpPr>
        <p:spPr>
          <a:xfrm>
            <a:off x="6263640" y="2560320"/>
            <a:ext cx="5532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6263640" y="2729484"/>
            <a:ext cx="5532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3000"/>
              </a:lnSpc>
              <a:spcAft>
                <a:spcPts val="200"/>
              </a:spcAft>
              <a:buSzPct val="100000"/>
              <a:buChar char="•"/>
            </a:pPr>
            <a:r>
              <a:rPr lang="en-US" sz="76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~13x forward P/E, ~8x EV/EBITDA — </a:t>
            </a:r>
            <a:pPr indent="0" marL="0">
              <a:lnSpc>
                <a:spcPct val="103000"/>
              </a:lnSpc>
              <a:spcAft>
                <a:spcPts val="200"/>
              </a:spcAft>
              <a:buNone/>
            </a:pPr>
            <a:r>
              <a:rPr lang="en-US" sz="76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&gt;20% revenue growth, a record backlog and a &gt;$900m opportunity pipeline (vs. ~$211m FY26 revenue).</a:t>
            </a:r>
            <a:endParaRPr lang="en-US" sz="760" dirty="0"/>
          </a:p>
          <a:p>
            <a:pPr marL="114300" indent="-114300">
              <a:lnSpc>
                <a:spcPct val="103000"/>
              </a:lnSpc>
              <a:spcAft>
                <a:spcPts val="200"/>
              </a:spcAft>
              <a:buSzPct val="100000"/>
              <a:buChar char="•"/>
            </a:pPr>
            <a:r>
              <a:rPr lang="en-US" sz="76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“cheap P/E” story alone — </a:t>
            </a:r>
            <a:pPr indent="0" marL="0">
              <a:lnSpc>
                <a:spcPct val="103000"/>
              </a:lnSpc>
              <a:spcAft>
                <a:spcPts val="200"/>
              </a:spcAft>
              <a:buNone/>
            </a:pPr>
            <a:r>
              <a:rPr lang="en-US" sz="76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re-rating depends on execution: revenue growth → backlog conversion → Ohio/Qatar utilization → operating leverage → margin recovery → EPS growth → P/E re-rating.</a:t>
            </a:r>
            <a:endParaRPr lang="en-US" sz="760" dirty="0"/>
          </a:p>
        </p:txBody>
      </p:sp>
      <p:sp>
        <p:nvSpPr>
          <p:cNvPr id="41" name="Text 38"/>
          <p:cNvSpPr/>
          <p:nvPr/>
        </p:nvSpPr>
        <p:spPr>
          <a:xfrm>
            <a:off x="6263640" y="3351276"/>
            <a:ext cx="5532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TARGET SCENARIOS (fwd P/E based)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6263640" y="355244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6766560" y="3552444"/>
            <a:ext cx="1772107" cy="274320"/>
          </a:xfrm>
          <a:prstGeom prst="rect">
            <a:avLst/>
          </a:prstGeom>
          <a:solidFill>
            <a:srgbClr val="8C1E1E"/>
          </a:solidFill>
          <a:ln/>
        </p:spPr>
      </p:sp>
      <p:sp>
        <p:nvSpPr>
          <p:cNvPr id="44" name="Text 41"/>
          <p:cNvSpPr/>
          <p:nvPr/>
        </p:nvSpPr>
        <p:spPr>
          <a:xfrm>
            <a:off x="6821424" y="3552444"/>
            <a:ext cx="16806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$25.5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0332720" y="355244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~12x P/E, –17% vs spot</a:t>
            </a:r>
            <a:endParaRPr lang="en-US" sz="680" dirty="0"/>
          </a:p>
        </p:txBody>
      </p:sp>
      <p:sp>
        <p:nvSpPr>
          <p:cNvPr id="46" name="Text 43"/>
          <p:cNvSpPr/>
          <p:nvPr/>
        </p:nvSpPr>
        <p:spPr>
          <a:xfrm>
            <a:off x="6263640" y="394563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6766560" y="3945636"/>
            <a:ext cx="2640787" cy="27432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8" name="Text 45"/>
          <p:cNvSpPr/>
          <p:nvPr/>
        </p:nvSpPr>
        <p:spPr>
          <a:xfrm>
            <a:off x="6821424" y="3945636"/>
            <a:ext cx="25493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10332720" y="39456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~15.5x P/E, +23% vs spot</a:t>
            </a:r>
            <a:endParaRPr lang="en-US" sz="680" dirty="0"/>
          </a:p>
        </p:txBody>
      </p:sp>
      <p:sp>
        <p:nvSpPr>
          <p:cNvPr id="50" name="Text 47"/>
          <p:cNvSpPr/>
          <p:nvPr/>
        </p:nvSpPr>
        <p:spPr>
          <a:xfrm>
            <a:off x="6263640" y="43388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6766560" y="4338828"/>
            <a:ext cx="3127248" cy="274320"/>
          </a:xfrm>
          <a:prstGeom prst="rect">
            <a:avLst/>
          </a:prstGeom>
          <a:solidFill>
            <a:srgbClr val="2E7D46"/>
          </a:solidFill>
          <a:ln/>
        </p:spPr>
      </p:sp>
      <p:sp>
        <p:nvSpPr>
          <p:cNvPr id="52" name="Text 49"/>
          <p:cNvSpPr/>
          <p:nvPr/>
        </p:nvSpPr>
        <p:spPr>
          <a:xfrm>
            <a:off x="6821424" y="4338828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$45+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10332720" y="43388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~16-18x P/E, +46%+ vs spot</a:t>
            </a:r>
            <a:endParaRPr lang="en-US" sz="680" dirty="0"/>
          </a:p>
        </p:txBody>
      </p:sp>
      <p:sp>
        <p:nvSpPr>
          <p:cNvPr id="54" name="Shape 51"/>
          <p:cNvSpPr/>
          <p:nvPr/>
        </p:nvSpPr>
        <p:spPr>
          <a:xfrm>
            <a:off x="8914632" y="3506724"/>
            <a:ext cx="0" cy="1152144"/>
          </a:xfrm>
          <a:prstGeom prst="line">
            <a:avLst/>
          </a:prstGeom>
          <a:noFill/>
          <a:ln w="12700">
            <a:solidFill>
              <a:srgbClr val="6B6B6B"/>
            </a:solidFill>
            <a:prstDash val="dash"/>
          </a:ln>
        </p:spPr>
      </p:sp>
      <p:sp>
        <p:nvSpPr>
          <p:cNvPr id="55" name="Text 52"/>
          <p:cNvSpPr/>
          <p:nvPr/>
        </p:nvSpPr>
        <p:spPr>
          <a:xfrm>
            <a:off x="8411712" y="4704588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$30.91</a:t>
            </a:r>
            <a:endParaRPr lang="en-US" sz="650" dirty="0"/>
          </a:p>
        </p:txBody>
      </p:sp>
      <p:sp>
        <p:nvSpPr>
          <p:cNvPr id="56" name="Shape 53"/>
          <p:cNvSpPr/>
          <p:nvPr/>
        </p:nvSpPr>
        <p:spPr>
          <a:xfrm>
            <a:off x="6263640" y="4887468"/>
            <a:ext cx="5532120" cy="530352"/>
          </a:xfrm>
          <a:prstGeom prst="rect">
            <a:avLst/>
          </a:prstGeom>
          <a:solidFill>
            <a:srgbClr val="F2F4F7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373368" y="4914900"/>
            <a:ext cx="5312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point: </a:t>
            </a:r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$30.91, the base case ($38, ~15.5x fwd P/E) implies ~+23% upside from backlog conversion and margin recovery as Ohio/Qatar ramp. The bear case ($25.5) assumes continued margin pressure and a de-rating toward ~12x.</a:t>
            </a:r>
            <a:endParaRPr lang="en-US" sz="750" dirty="0"/>
          </a:p>
        </p:txBody>
      </p:sp>
      <p:sp>
        <p:nvSpPr>
          <p:cNvPr id="58" name="Shape 55"/>
          <p:cNvSpPr/>
          <p:nvPr/>
        </p:nvSpPr>
        <p:spPr>
          <a:xfrm>
            <a:off x="356616" y="5806440"/>
            <a:ext cx="5532120" cy="22860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59" name="Text 56"/>
          <p:cNvSpPr/>
          <p:nvPr/>
        </p:nvSpPr>
        <p:spPr>
          <a:xfrm>
            <a:off x="356616" y="5806440"/>
            <a:ext cx="5532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CATALYSTS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6263640" y="5806440"/>
            <a:ext cx="5532120" cy="22860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61" name="Text 58"/>
          <p:cNvSpPr/>
          <p:nvPr/>
        </p:nvSpPr>
        <p:spPr>
          <a:xfrm>
            <a:off x="6263640" y="5806440"/>
            <a:ext cx="5532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1000" dirty="0"/>
          </a:p>
        </p:txBody>
      </p:sp>
      <p:sp>
        <p:nvSpPr>
          <p:cNvPr id="62" name="Text 59"/>
          <p:cNvSpPr/>
          <p:nvPr/>
        </p:nvSpPr>
        <p:spPr>
          <a:xfrm>
            <a:off x="356616" y="6071616"/>
            <a:ext cx="5532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3000"/>
              </a:lnSpc>
              <a:spcAft>
                <a:spcPts val="200"/>
              </a:spcAft>
              <a:buSzPct val="100000"/>
              <a:buChar char="•"/>
            </a:pPr>
            <a:r>
              <a:rPr lang="en-US" sz="72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Ohio &amp; Qatar ramp to full production (early 2027)</a:t>
            </a:r>
            <a:endParaRPr lang="en-US" sz="720" dirty="0"/>
          </a:p>
          <a:p>
            <a:pPr marL="114300" indent="-114300">
              <a:lnSpc>
                <a:spcPct val="103000"/>
              </a:lnSpc>
              <a:spcAft>
                <a:spcPts val="200"/>
              </a:spcAft>
              <a:buSzPct val="100000"/>
              <a:buChar char="•"/>
            </a:pPr>
            <a:r>
              <a:rPr lang="en-US" sz="72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conversion — ~40-50% expected in Q3</a:t>
            </a:r>
            <a:endParaRPr lang="en-US" sz="720" dirty="0"/>
          </a:p>
          <a:p>
            <a:pPr marL="114300" indent="-114300">
              <a:lnSpc>
                <a:spcPct val="103000"/>
              </a:lnSpc>
              <a:spcAft>
                <a:spcPts val="200"/>
              </a:spcAft>
              <a:buSzPct val="100000"/>
              <a:buChar char="•"/>
            </a:pPr>
            <a:r>
              <a:rPr lang="en-US" sz="72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recovery back above 30%</a:t>
            </a:r>
            <a:endParaRPr lang="en-US" sz="720" dirty="0"/>
          </a:p>
          <a:p>
            <a:pPr marL="114300" indent="-114300">
              <a:lnSpc>
                <a:spcPct val="103000"/>
              </a:lnSpc>
              <a:spcAft>
                <a:spcPts val="200"/>
              </a:spcAft>
              <a:buSzPct val="100000"/>
              <a:buChar char="•"/>
            </a:pPr>
            <a:r>
              <a:rPr lang="en-US" sz="72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leak-detection / OEM wins; Saudi Aramco orders; MENA O&amp;G awards</a:t>
            </a:r>
            <a:endParaRPr lang="en-US" sz="720" dirty="0"/>
          </a:p>
          <a:p>
            <a:pPr marL="114300" indent="-114300">
              <a:lnSpc>
                <a:spcPct val="103000"/>
              </a:lnSpc>
              <a:spcAft>
                <a:spcPts val="200"/>
              </a:spcAft>
              <a:buSzPct val="100000"/>
              <a:buChar char="•"/>
            </a:pPr>
            <a:r>
              <a:rPr lang="en-US" sz="72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Jordan/Welspun JV progress; National Water Carrier (potential, not in backlog)</a:t>
            </a:r>
            <a:endParaRPr lang="en-US" sz="720" dirty="0"/>
          </a:p>
          <a:p>
            <a:pPr marL="114300" indent="-114300">
              <a:lnSpc>
                <a:spcPct val="103000"/>
              </a:lnSpc>
              <a:spcAft>
                <a:spcPts val="200"/>
              </a:spcAft>
              <a:buSzPct val="100000"/>
              <a:buChar char="•"/>
            </a:pPr>
            <a:r>
              <a:rPr lang="en-US" sz="72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 improvement; larger project wins enabled by new $139m credit facility</a:t>
            </a:r>
            <a:endParaRPr lang="en-US" sz="720" dirty="0"/>
          </a:p>
        </p:txBody>
      </p:sp>
      <p:sp>
        <p:nvSpPr>
          <p:cNvPr id="63" name="Text 60"/>
          <p:cNvSpPr/>
          <p:nvPr/>
        </p:nvSpPr>
        <p:spPr>
          <a:xfrm>
            <a:off x="6263640" y="6071616"/>
            <a:ext cx="5532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3000"/>
              </a:lnSpc>
              <a:spcAft>
                <a:spcPts val="200"/>
              </a:spcAft>
              <a:buSzPct val="100000"/>
              <a:buChar char="•"/>
            </a:pPr>
            <a:r>
              <a:rPr lang="en-US" sz="72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pressure — Q2 gross margin 29.2% vs 30.1% YoY on ramp-up &amp; input/tariff costs</a:t>
            </a:r>
            <a:endParaRPr lang="en-US" sz="720" dirty="0"/>
          </a:p>
          <a:p>
            <a:pPr marL="114300" indent="-114300">
              <a:lnSpc>
                <a:spcPct val="103000"/>
              </a:lnSpc>
              <a:spcAft>
                <a:spcPts val="200"/>
              </a:spcAft>
              <a:buSzPct val="100000"/>
              <a:buChar char="•"/>
            </a:pPr>
            <a:r>
              <a:rPr lang="en-US" sz="72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risk converting backlog into on-time, on-margin revenue</a:t>
            </a:r>
            <a:endParaRPr lang="en-US" sz="720" dirty="0"/>
          </a:p>
          <a:p>
            <a:pPr marL="114300" indent="-114300">
              <a:lnSpc>
                <a:spcPct val="103000"/>
              </a:lnSpc>
              <a:spcAft>
                <a:spcPts val="200"/>
              </a:spcAft>
              <a:buSzPct val="100000"/>
              <a:buChar char="•"/>
            </a:pPr>
            <a:r>
              <a:rPr lang="en-US" sz="72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/ receivable risk — $3.9m provision booked in Q2</a:t>
            </a:r>
            <a:endParaRPr lang="en-US" sz="720" dirty="0"/>
          </a:p>
          <a:p>
            <a:pPr marL="114300" indent="-114300">
              <a:lnSpc>
                <a:spcPct val="103000"/>
              </a:lnSpc>
              <a:spcAft>
                <a:spcPts val="200"/>
              </a:spcAft>
              <a:buSzPct val="100000"/>
              <a:buChar char="•"/>
            </a:pPr>
            <a:r>
              <a:rPr lang="en-US" sz="72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 volatility from project-based working capital swings</a:t>
            </a:r>
            <a:endParaRPr lang="en-US" sz="720" dirty="0"/>
          </a:p>
          <a:p>
            <a:pPr marL="114300" indent="-114300">
              <a:lnSpc>
                <a:spcPct val="103000"/>
              </a:lnSpc>
              <a:spcAft>
                <a:spcPts val="200"/>
              </a:spcAft>
              <a:buSzPct val="100000"/>
              <a:buChar char="•"/>
            </a:pPr>
            <a:r>
              <a:rPr lang="en-US" sz="72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 geopolitical &amp; shipping risk</a:t>
            </a:r>
            <a:endParaRPr lang="en-US" sz="720" dirty="0"/>
          </a:p>
          <a:p>
            <a:pPr marL="114300" indent="-114300">
              <a:lnSpc>
                <a:spcPct val="103000"/>
              </a:lnSpc>
              <a:spcAft>
                <a:spcPts val="200"/>
              </a:spcAft>
              <a:buSzPct val="100000"/>
              <a:buChar char="•"/>
            </a:pPr>
            <a:r>
              <a:rPr lang="en-US" sz="72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Data-center demand cyclicality; small-cap liquidity (~$250m market cap)</a:t>
            </a:r>
            <a:endParaRPr lang="en-US" sz="7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Text 5"/>
          <p:cNvSpPr txBox="1"/>
          <p:nvPr/>
        </p:nvSpPr>
        <p:spPr>
          <a:xfrm>
            <a:off x="355735" y="874367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POET Technologies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409275" y="1368143"/>
            <a:ext cx="11457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9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NASDAQ-listed AI photonics company (POET) — based in Toronto, relocating to the US. </a:t>
            </a:r>
            <a:r>
              <a:rPr lang="en-US" sz="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photonic integrated circuits, optical engines and transceivers for data centers. A pure play on the "copper → light" shift: the technology, the cash and the first contracts are in place — execution is what remains.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14186" y="1784080"/>
            <a:ext cx="15063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1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$0.57m</a:t>
            </a:r>
            <a:endParaRPr lang="en-US" sz="1351" dirty="0"/>
          </a:p>
        </p:txBody>
      </p:sp>
      <p:sp>
        <p:nvSpPr>
          <p:cNvPr id="10" name="Text 8"/>
          <p:cNvSpPr txBox="1"/>
          <p:nvPr/>
        </p:nvSpPr>
        <p:spPr>
          <a:xfrm>
            <a:off x="514187" y="2040112"/>
            <a:ext cx="17724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Q2-26 revenue (+112% YoY, +13% QoQ)</a:t>
            </a:r>
            <a:endParaRPr lang="en-US" sz="751" dirty="0"/>
          </a:p>
        </p:txBody>
      </p:sp>
      <p:sp>
        <p:nvSpPr>
          <p:cNvPr id="11" name="Shape 9"/>
          <p:cNvSpPr/>
          <p:nvPr/>
        </p:nvSpPr>
        <p:spPr>
          <a:xfrm>
            <a:off x="2087796" y="1848968"/>
            <a:ext cx="0" cy="36576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2189264" y="1775816"/>
            <a:ext cx="1772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1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~$1.56bn</a:t>
            </a:r>
            <a:endParaRPr lang="en-US" sz="1351" dirty="0"/>
          </a:p>
        </p:txBody>
      </p:sp>
      <p:sp>
        <p:nvSpPr>
          <p:cNvPr id="13" name="Text 11"/>
          <p:cNvSpPr txBox="1"/>
          <p:nvPr/>
        </p:nvSpPr>
        <p:spPr>
          <a:xfrm>
            <a:off x="2189264" y="2031848"/>
            <a:ext cx="17724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cap</a:t>
            </a:r>
            <a:endParaRPr lang="en-US" sz="751" dirty="0"/>
          </a:p>
        </p:txBody>
      </p:sp>
      <p:sp>
        <p:nvSpPr>
          <p:cNvPr id="14" name="Shape 12"/>
          <p:cNvSpPr/>
          <p:nvPr/>
        </p:nvSpPr>
        <p:spPr>
          <a:xfrm>
            <a:off x="3758742" y="1848968"/>
            <a:ext cx="0" cy="36576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 txBox="1"/>
          <p:nvPr/>
        </p:nvSpPr>
        <p:spPr>
          <a:xfrm>
            <a:off x="3860208" y="1775816"/>
            <a:ext cx="1772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1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~$796m</a:t>
            </a:r>
            <a:endParaRPr lang="en-US" sz="1351" dirty="0"/>
          </a:p>
        </p:txBody>
      </p:sp>
      <p:sp>
        <p:nvSpPr>
          <p:cNvPr id="16" name="Text 14"/>
          <p:cNvSpPr txBox="1"/>
          <p:nvPr/>
        </p:nvSpPr>
        <p:spPr>
          <a:xfrm>
            <a:off x="3860208" y="2031848"/>
            <a:ext cx="17724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(post $400m raise)</a:t>
            </a:r>
            <a:endParaRPr lang="en-US" sz="751" dirty="0"/>
          </a:p>
        </p:txBody>
      </p:sp>
      <p:sp>
        <p:nvSpPr>
          <p:cNvPr id="17" name="Shape 15"/>
          <p:cNvSpPr/>
          <p:nvPr/>
        </p:nvSpPr>
        <p:spPr>
          <a:xfrm>
            <a:off x="5558992" y="1835576"/>
            <a:ext cx="0" cy="36576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5734087" y="1775816"/>
            <a:ext cx="1772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1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−$11.3m</a:t>
            </a:r>
            <a:endParaRPr lang="en-US" sz="1351" dirty="0"/>
          </a:p>
        </p:txBody>
      </p:sp>
      <p:sp>
        <p:nvSpPr>
          <p:cNvPr id="19" name="Text 17"/>
          <p:cNvSpPr txBox="1"/>
          <p:nvPr/>
        </p:nvSpPr>
        <p:spPr>
          <a:xfrm>
            <a:off x="5734087" y="2031848"/>
            <a:ext cx="17724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Q2-26 net loss (−$0.07/share)</a:t>
            </a:r>
            <a:endParaRPr lang="en-US" sz="751" dirty="0"/>
          </a:p>
        </p:txBody>
      </p:sp>
      <p:sp>
        <p:nvSpPr>
          <p:cNvPr id="20" name="Shape 18"/>
          <p:cNvSpPr/>
          <p:nvPr/>
        </p:nvSpPr>
        <p:spPr>
          <a:xfrm>
            <a:off x="7297830" y="1848968"/>
            <a:ext cx="0" cy="36576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 txBox="1"/>
          <p:nvPr/>
        </p:nvSpPr>
        <p:spPr>
          <a:xfrm>
            <a:off x="7399296" y="1775816"/>
            <a:ext cx="1772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1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~$3.80</a:t>
            </a:r>
            <a:endParaRPr lang="en-US" sz="1351" dirty="0"/>
          </a:p>
        </p:txBody>
      </p:sp>
      <p:sp>
        <p:nvSpPr>
          <p:cNvPr id="22" name="Text 20"/>
          <p:cNvSpPr txBox="1"/>
          <p:nvPr/>
        </p:nvSpPr>
        <p:spPr>
          <a:xfrm>
            <a:off x="7399296" y="2031848"/>
            <a:ext cx="17724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per share (~51% of price)</a:t>
            </a:r>
            <a:endParaRPr lang="en-US" sz="751" dirty="0"/>
          </a:p>
        </p:txBody>
      </p:sp>
      <p:sp>
        <p:nvSpPr>
          <p:cNvPr id="23" name="Shape 21"/>
          <p:cNvSpPr/>
          <p:nvPr/>
        </p:nvSpPr>
        <p:spPr>
          <a:xfrm>
            <a:off x="8963041" y="1838944"/>
            <a:ext cx="0" cy="36576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 txBox="1"/>
          <p:nvPr/>
        </p:nvSpPr>
        <p:spPr>
          <a:xfrm>
            <a:off x="9064508" y="1765792"/>
            <a:ext cx="1772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1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$3.9–20.8</a:t>
            </a:r>
            <a:endParaRPr lang="en-US" sz="1351" dirty="0"/>
          </a:p>
        </p:txBody>
      </p:sp>
      <p:sp>
        <p:nvSpPr>
          <p:cNvPr id="25" name="Text 23"/>
          <p:cNvSpPr txBox="1"/>
          <p:nvPr/>
        </p:nvSpPr>
        <p:spPr>
          <a:xfrm>
            <a:off x="9064508" y="2021824"/>
            <a:ext cx="17724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52-wk range (−64% from high)</a:t>
            </a:r>
            <a:endParaRPr lang="en-US" sz="751" dirty="0"/>
          </a:p>
        </p:txBody>
      </p:sp>
      <p:sp>
        <p:nvSpPr>
          <p:cNvPr id="26" name="Shape 24"/>
          <p:cNvSpPr/>
          <p:nvPr/>
        </p:nvSpPr>
        <p:spPr>
          <a:xfrm>
            <a:off x="365760" y="2239798"/>
            <a:ext cx="11457432" cy="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396200" y="2390434"/>
            <a:ext cx="5029200" cy="237744"/>
          </a:xfrm>
          <a:prstGeom prst="rect">
            <a:avLst/>
          </a:prstGeom>
          <a:solidFill>
            <a:srgbClr val="1F2A44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28" name="Text 26"/>
          <p:cNvSpPr txBox="1"/>
          <p:nvPr/>
        </p:nvSpPr>
        <p:spPr>
          <a:xfrm>
            <a:off x="365760" y="239625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51" b="1" kern="0" spc="15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TECHNOLOGY</a:t>
            </a:r>
            <a:endParaRPr lang="en-US" sz="951" dirty="0"/>
          </a:p>
        </p:txBody>
      </p:sp>
      <p:sp>
        <p:nvSpPr>
          <p:cNvPr id="29" name="Text 27"/>
          <p:cNvSpPr txBox="1"/>
          <p:nvPr/>
        </p:nvSpPr>
        <p:spPr>
          <a:xfrm>
            <a:off x="365760" y="270267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LIGHT THAT CLICKS INTO PLACE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429328" y="2930000"/>
            <a:ext cx="50292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294" indent="-114294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interposer </a:t>
            </a:r>
            <a:r>
              <a:rPr lang="en-US" sz="8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wafer-level etched silicon: laser, modulator, detector drop in and self-align (like LEGO)</a:t>
            </a:r>
            <a:endParaRPr lang="en-US" sz="850" dirty="0"/>
          </a:p>
          <a:p>
            <a:pPr marL="114294" indent="-114294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solved </a:t>
            </a:r>
            <a:r>
              <a:rPr lang="en-US" sz="8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replaces slow, costly manual micron-level laser alignment with a semiconductor-style flow</a:t>
            </a:r>
            <a:endParaRPr lang="en-US" sz="850" dirty="0"/>
          </a:p>
          <a:p>
            <a:pPr marL="114294" indent="-114294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</a:t>
            </a:r>
            <a:r>
              <a:rPr lang="en-US" sz="8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Teralight (1.6T engine, OFC 2026 award) · Blazar (light source); 800G → 1.6T+</a:t>
            </a:r>
            <a:endParaRPr lang="en-US" sz="850" dirty="0"/>
          </a:p>
          <a:p>
            <a:pPr marL="114294" indent="-114294">
              <a:lnSpc>
                <a:spcPct val="98000"/>
              </a:lnSpc>
              <a:spcAft>
                <a:spcPts val="0"/>
              </a:spcAft>
              <a:buSzPct val="100000"/>
              <a:buChar char="•"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</a:t>
            </a:r>
            <a:r>
              <a:rPr lang="en-US" sz="8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sells the engine, not the finished transceiver; silicon for the platform, InP only for the laser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397544" y="37000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WHY POET OUTSHINES THE PACK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380308" y="3910000"/>
            <a:ext cx="5060984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294" indent="-114294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Self-alignment alone is not exclusive </a:t>
            </a:r>
            <a:r>
              <a:rPr lang="en-US" sz="8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real edge lies elsewhere:</a:t>
            </a:r>
            <a:endParaRPr lang="en-US" sz="850" dirty="0"/>
          </a:p>
          <a:p>
            <a:pPr marL="114294" indent="-114294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Complete, proven platform </a:t>
            </a:r>
            <a:r>
              <a:rPr lang="en-US" sz="8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waveguides + laser + self-alignment on one platform: a real product, not a concept</a:t>
            </a:r>
            <a:endParaRPr lang="en-US" sz="850" dirty="0"/>
          </a:p>
          <a:p>
            <a:pPr marL="114294" indent="-114294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Indium phosphide (InP)-efficient </a:t>
            </a:r>
            <a:r>
              <a:rPr lang="en-US" sz="8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laser material is supply-constrained (AI demand) → cost advantage</a:t>
            </a:r>
            <a:endParaRPr lang="en-US" sz="850" dirty="0"/>
          </a:p>
          <a:p>
            <a:pPr marL="114294" indent="-114294">
              <a:lnSpc>
                <a:spcPct val="98000"/>
              </a:lnSpc>
              <a:spcAft>
                <a:spcPts val="0"/>
              </a:spcAft>
              <a:buSzPct val="100000"/>
              <a:buChar char="•"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supplier </a:t>
            </a:r>
            <a:r>
              <a:rPr lang="en-US" sz="8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Broadcom keeps its tech in-house; POET sells to all → alternative + takeover target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429328" y="4745167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900" b="1" kern="0" spc="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COPPER'S OUT, LIGHT'S IN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380308" y="4964623"/>
            <a:ext cx="50292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294" indent="-114294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Copper → light </a:t>
            </a:r>
            <a:r>
              <a:rPr lang="en-US" sz="8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copper interconnects are hitting their limit in AI data centers; CPO market </a:t>
            </a:r>
            <a:r>
              <a:rPr lang="en-US" sz="8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~$0.1bn (2025) → ~$39bn (2030)</a:t>
            </a:r>
            <a:endParaRPr lang="en-US" sz="850" dirty="0"/>
          </a:p>
          <a:p>
            <a:pPr marL="114294" indent="-114294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Lumilens </a:t>
            </a:r>
            <a:r>
              <a:rPr lang="en-US" sz="8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first order </a:t>
            </a:r>
            <a:r>
              <a:rPr lang="en-US" sz="8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$50m</a:t>
            </a:r>
            <a:r>
              <a:rPr lang="en-US" sz="8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framework up to </a:t>
            </a:r>
            <a:r>
              <a:rPr lang="en-US" sz="8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$500m+ over 5 years</a:t>
            </a:r>
            <a:r>
              <a:rPr lang="en-US" sz="8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Tier-1 laser agreement · $2.4m repeat order</a:t>
            </a:r>
            <a:endParaRPr lang="en-US" sz="850" dirty="0"/>
          </a:p>
          <a:p>
            <a:pPr marL="114294" indent="-114294">
              <a:lnSpc>
                <a:spcPct val="98000"/>
              </a:lnSpc>
              <a:spcAft>
                <a:spcPts val="0"/>
              </a:spcAft>
              <a:buSzPct val="100000"/>
              <a:buChar char="•"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ecosystem </a:t>
            </a:r>
            <a:r>
              <a:rPr lang="en-US" sz="8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Dr Sandeep Kumar appointed COO (industrialisation); LITEON / Lessengers (1.6T)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258427" y="2399507"/>
            <a:ext cx="5608280" cy="237744"/>
          </a:xfrm>
          <a:prstGeom prst="rect">
            <a:avLst/>
          </a:prstGeom>
          <a:solidFill>
            <a:srgbClr val="1F2A4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 txBox="1"/>
          <p:nvPr/>
        </p:nvSpPr>
        <p:spPr>
          <a:xfrm>
            <a:off x="6270779" y="2399507"/>
            <a:ext cx="556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51" b="1" kern="0" spc="15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— CASH + AN OPTION ON PHOTONICS</a:t>
            </a:r>
            <a:endParaRPr lang="en-US" sz="951" dirty="0"/>
          </a:p>
        </p:txBody>
      </p:sp>
      <p:graphicFrame>
        <p:nvGraphicFramePr>
          <p:cNvPr id="37" name="Chart 0"/>
          <p:cNvGraphicFramePr/>
          <p:nvPr>
            <p:extLst>
              <p:ext uri="{D42A27DB-BD31-4B8C-83A1-F6EECF244321}">
                <p14:modId xmlns:p14="http://schemas.microsoft.com/office/powerpoint/2010/main" val="2428019145"/>
              </p:ext>
            </p:extLst>
          </p:nvPr>
        </p:nvGraphicFramePr>
        <p:xfrm>
          <a:off x="8918364" y="2885550"/>
          <a:ext cx="3250897" cy="22395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8" name="Shape 35"/>
          <p:cNvSpPr/>
          <p:nvPr/>
        </p:nvSpPr>
        <p:spPr>
          <a:xfrm>
            <a:off x="6229907" y="5130000"/>
            <a:ext cx="5371627" cy="760000"/>
          </a:xfrm>
          <a:prstGeom prst="roundRect">
            <a:avLst>
              <a:gd name="adj" fmla="val 4211"/>
            </a:avLst>
          </a:prstGeom>
          <a:solidFill>
            <a:srgbClr val="F5F6F8"/>
          </a:solidFill>
          <a:ln w="9525">
            <a:solidFill>
              <a:srgbClr val="D9DC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6"/>
          <p:cNvSpPr txBox="1"/>
          <p:nvPr/>
        </p:nvSpPr>
        <p:spPr>
          <a:xfrm>
            <a:off x="6449446" y="5150000"/>
            <a:ext cx="4932547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9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point:  </a:t>
            </a:r>
            <a:r>
              <a:rPr lang="en-US" sz="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$7.43, the market pays </a:t>
            </a:r>
            <a:r>
              <a:rPr lang="en-US" sz="9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~$3.80 of cash + ~$3.60 for the tech</a:t>
            </a:r>
            <a:r>
              <a:rPr lang="en-US" sz="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</a:t>
            </a:r>
            <a:r>
              <a:rPr lang="en-US" sz="9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24-month probability-weighted target ~$11.25 (+51%)</a:t>
            </a:r>
            <a:r>
              <a:rPr lang="en-US" sz="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1% / 5% / 10% share of a $7bn market at 8x EV/Sales, 15% discount rate.</a:t>
            </a:r>
            <a:endParaRPr lang="en-US" sz="9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Expression: </a:t>
            </a:r>
            <a:r>
              <a:rPr lang="en-US" sz="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risk (bull call spread) or buying near the cash floor — very high implied vol.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365760" y="5989380"/>
            <a:ext cx="5577840" cy="237744"/>
          </a:xfrm>
          <a:prstGeom prst="rect">
            <a:avLst/>
          </a:prstGeom>
          <a:solidFill>
            <a:srgbClr val="1F2A4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Text 38"/>
          <p:cNvSpPr txBox="1"/>
          <p:nvPr/>
        </p:nvSpPr>
        <p:spPr>
          <a:xfrm>
            <a:off x="355735" y="6000991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51" b="1" kern="0" spc="15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951" dirty="0"/>
          </a:p>
        </p:txBody>
      </p:sp>
      <p:sp>
        <p:nvSpPr>
          <p:cNvPr id="42" name="Shape 39"/>
          <p:cNvSpPr/>
          <p:nvPr/>
        </p:nvSpPr>
        <p:spPr>
          <a:xfrm>
            <a:off x="6218602" y="5983633"/>
            <a:ext cx="5577840" cy="237744"/>
          </a:xfrm>
          <a:prstGeom prst="rect">
            <a:avLst/>
          </a:prstGeom>
          <a:solidFill>
            <a:srgbClr val="1F2A4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3" name="Text 40"/>
          <p:cNvSpPr txBox="1"/>
          <p:nvPr/>
        </p:nvSpPr>
        <p:spPr>
          <a:xfrm>
            <a:off x="6174121" y="5982762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51" b="1" kern="0" spc="15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951" dirty="0"/>
          </a:p>
        </p:txBody>
      </p:sp>
      <p:sp>
        <p:nvSpPr>
          <p:cNvPr id="44" name="Text 41"/>
          <p:cNvSpPr txBox="1"/>
          <p:nvPr/>
        </p:nvSpPr>
        <p:spPr>
          <a:xfrm>
            <a:off x="355735" y="6311887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294" indent="-114294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volume shipments </a:t>
            </a:r>
            <a:r>
              <a:rPr lang="en-US" sz="8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2H 2026 (target ~30,000 optical engines): the real test</a:t>
            </a:r>
            <a:endParaRPr lang="en-US" sz="850" dirty="0"/>
          </a:p>
          <a:p>
            <a:pPr marL="114294" indent="-114294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 results </a:t>
            </a:r>
            <a:r>
              <a:rPr lang="en-US" sz="8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Nov. 12, 2026: is the Lumilens framework turning into revenue?</a:t>
            </a:r>
            <a:endParaRPr lang="en-US" sz="850" dirty="0"/>
          </a:p>
          <a:p>
            <a:pPr marL="114294" indent="-114294">
              <a:lnSpc>
                <a:spcPct val="98000"/>
              </a:lnSpc>
              <a:spcAft>
                <a:spcPts val="0"/>
              </a:spcAft>
              <a:buSzPct val="100000"/>
              <a:buChar char="•"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 relocation to the US </a:t>
            </a:r>
            <a:r>
              <a:rPr lang="en-US" sz="8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manufacturing ramp-up led by the new COO</a:t>
            </a:r>
            <a:endParaRPr lang="en-US" sz="850" dirty="0"/>
          </a:p>
        </p:txBody>
      </p:sp>
      <p:sp>
        <p:nvSpPr>
          <p:cNvPr id="45" name="Text 42"/>
          <p:cNvSpPr txBox="1"/>
          <p:nvPr/>
        </p:nvSpPr>
        <p:spPr>
          <a:xfrm>
            <a:off x="6270779" y="6290831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294" indent="-114294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/ customer: </a:t>
            </a:r>
            <a:r>
              <a:rPr lang="en-US" sz="8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Marvell cancelled its orders (Apr-26, CFO breached confidentiality) → −47% in one day</a:t>
            </a:r>
            <a:endParaRPr lang="en-US" sz="850" dirty="0"/>
          </a:p>
          <a:p>
            <a:pPr marL="114294" indent="-114294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Governance: </a:t>
            </a:r>
            <a:r>
              <a:rPr lang="en-US" sz="8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2-day disclosure delay, Robbins LLP probe (PFIC); is POET truly indispensable?</a:t>
            </a:r>
            <a:endParaRPr lang="en-US" sz="850" dirty="0"/>
          </a:p>
          <a:p>
            <a:pPr marL="114294" indent="-114294">
              <a:lnSpc>
                <a:spcPct val="98000"/>
              </a:lnSpc>
              <a:spcAft>
                <a:spcPts val="0"/>
              </a:spcAft>
              <a:buSzPct val="100000"/>
              <a:buChar char="•"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≫ revenue: </a:t>
            </a:r>
            <a:r>
              <a:rPr lang="en-US" sz="8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dilution (warrants at $8.25 / $26.25), competition from Broadcom, Nvidia, Ayar Labs, Ncodin</a:t>
            </a:r>
            <a:endParaRPr lang="en-US" sz="850" dirty="0"/>
          </a:p>
        </p:txBody>
      </p:sp>
      <p:sp>
        <p:nvSpPr>
          <p:cNvPr id="3" name="Shape 21">
            <a:extLst>
              <a:ext uri="{FF2B5EF4-FFF2-40B4-BE49-F238E27FC236}">
                <a16:creationId xmlns:a16="http://schemas.microsoft.com/office/drawing/2014/main" id="{11A30B8F-AA57-B29E-4884-CF31BB713949}"/>
              </a:ext>
            </a:extLst>
          </p:cNvPr>
          <p:cNvSpPr/>
          <p:nvPr/>
        </p:nvSpPr>
        <p:spPr>
          <a:xfrm>
            <a:off x="10318120" y="1835576"/>
            <a:ext cx="0" cy="36576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2">
            <a:extLst>
              <a:ext uri="{FF2B5EF4-FFF2-40B4-BE49-F238E27FC236}">
                <a16:creationId xmlns:a16="http://schemas.microsoft.com/office/drawing/2014/main" id="{CBE5003C-B348-2622-CF56-5464E0EC8A10}"/>
              </a:ext>
            </a:extLst>
          </p:cNvPr>
          <p:cNvSpPr txBox="1"/>
          <p:nvPr/>
        </p:nvSpPr>
        <p:spPr>
          <a:xfrm>
            <a:off x="10419588" y="1762424"/>
            <a:ext cx="1772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1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$7.43</a:t>
            </a:r>
          </a:p>
        </p:txBody>
      </p:sp>
      <p:sp>
        <p:nvSpPr>
          <p:cNvPr id="46" name="Text 23">
            <a:extLst>
              <a:ext uri="{FF2B5EF4-FFF2-40B4-BE49-F238E27FC236}">
                <a16:creationId xmlns:a16="http://schemas.microsoft.com/office/drawing/2014/main" id="{664D23E0-74AB-DDAE-92D6-33368BD39E7D}"/>
              </a:ext>
            </a:extLst>
          </p:cNvPr>
          <p:cNvSpPr txBox="1"/>
          <p:nvPr/>
        </p:nvSpPr>
        <p:spPr>
          <a:xfrm>
            <a:off x="10419588" y="2018456"/>
            <a:ext cx="17724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price 9/15/26</a:t>
            </a:r>
            <a:endParaRPr lang="en-US" sz="751" dirty="0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"/>
            <a:ext cx="12192000" cy="857560"/>
          </a:xfrm>
          <a:prstGeom prst="rect">
            <a:avLst/>
          </a:prstGeom>
        </p:spPr>
      </p:pic>
      <p:sp>
        <p:nvSpPr>
          <p:cNvPr id="6" name="Text 28">
            <a:extLst>
              <a:ext uri="{FF2B5EF4-FFF2-40B4-BE49-F238E27FC236}">
                <a16:creationId xmlns:a16="http://schemas.microsoft.com/office/drawing/2014/main" id="{DA8328A6-57A0-4258-6259-31841F17B59C}"/>
              </a:ext>
            </a:extLst>
          </p:cNvPr>
          <p:cNvSpPr txBox="1"/>
          <p:nvPr/>
        </p:nvSpPr>
        <p:spPr>
          <a:xfrm>
            <a:off x="6221290" y="2999651"/>
            <a:ext cx="2697074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294" indent="-114294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competitors: </a:t>
            </a:r>
            <a:r>
              <a:rPr lang="en-US" sz="8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AAOI +197% · LITE +136% · MTSI +53% · COHR +48%</a:t>
            </a:r>
            <a:endParaRPr lang="en-US" sz="850" dirty="0"/>
          </a:p>
          <a:p>
            <a:pPr marL="114294" indent="-114294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POET: </a:t>
            </a:r>
            <a:r>
              <a:rPr lang="en-US" sz="8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−64% from its ~$20.8 peak — near-zero revenue, dilution</a:t>
            </a:r>
            <a:endParaRPr lang="en-US" sz="850" dirty="0"/>
          </a:p>
          <a:p>
            <a:pPr marL="114294" indent="-114294">
              <a:lnSpc>
                <a:spcPct val="98000"/>
              </a:lnSpc>
              <a:spcAft>
                <a:spcPts val="0"/>
              </a:spcAft>
              <a:buSzPct val="100000"/>
              <a:buChar char="•"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P/B ~1.5–2.7x </a:t>
            </a:r>
            <a:r>
              <a:rPr lang="en-US" sz="8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4–5x for the sector</a:t>
            </a:r>
            <a:endParaRPr lang="en-US" sz="850" dirty="0"/>
          </a:p>
        </p:txBody>
      </p:sp>
      <p:sp>
        <p:nvSpPr>
          <p:cNvPr id="49" name="Text 27">
            <a:extLst>
              <a:ext uri="{FF2B5EF4-FFF2-40B4-BE49-F238E27FC236}">
                <a16:creationId xmlns:a16="http://schemas.microsoft.com/office/drawing/2014/main" id="{3DB13934-DC5F-833F-EFC0-E0151A0D585C}"/>
              </a:ext>
            </a:extLst>
          </p:cNvPr>
          <p:cNvSpPr txBox="1"/>
          <p:nvPr/>
        </p:nvSpPr>
        <p:spPr>
          <a:xfrm>
            <a:off x="6276594" y="271989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Peers</a:t>
            </a:r>
          </a:p>
        </p:txBody>
      </p:sp>
      <p:sp>
        <p:nvSpPr>
          <p:cNvPr id="51" name="Text 27">
            <a:extLst>
              <a:ext uri="{FF2B5EF4-FFF2-40B4-BE49-F238E27FC236}">
                <a16:creationId xmlns:a16="http://schemas.microsoft.com/office/drawing/2014/main" id="{192E87D3-401D-4BE7-8FD5-7BBC8992E2CF}"/>
              </a:ext>
            </a:extLst>
          </p:cNvPr>
          <p:cNvSpPr txBox="1"/>
          <p:nvPr/>
        </p:nvSpPr>
        <p:spPr>
          <a:xfrm>
            <a:off x="6246270" y="396291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900" b="1" kern="0" spc="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M&amp;A in the sector</a:t>
            </a:r>
            <a:endParaRPr lang="en-US" sz="900" b="1" kern="0" spc="100" dirty="0">
              <a:solidFill>
                <a:srgbClr val="1F2A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26B015AD-69B5-A68C-8979-5818FFC34CAD}"/>
              </a:ext>
            </a:extLst>
          </p:cNvPr>
          <p:cNvSpPr txBox="1"/>
          <p:nvPr/>
        </p:nvSpPr>
        <p:spPr>
          <a:xfrm>
            <a:off x="6199508" y="4283619"/>
            <a:ext cx="2741751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294" indent="-114294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Marvell / Celestial AI </a:t>
            </a:r>
            <a:r>
              <a:rPr lang="en-US" sz="8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$3.25bn (Feb. 2026)</a:t>
            </a:r>
            <a:endParaRPr lang="en-US" sz="850" dirty="0"/>
          </a:p>
          <a:p>
            <a:pPr marL="114294" indent="-114294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DustPhotonics </a:t>
            </a:r>
            <a:r>
              <a:rPr lang="en-US" sz="8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acquired for ~$1.3bn</a:t>
            </a:r>
            <a:endParaRPr lang="en-US" sz="850" dirty="0"/>
          </a:p>
          <a:p>
            <a:pPr marL="114294" indent="-114294">
              <a:lnSpc>
                <a:spcPct val="98000"/>
              </a:lnSpc>
              <a:spcAft>
                <a:spcPts val="0"/>
              </a:spcAft>
              <a:buSzPct val="100000"/>
              <a:buChar char="•"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&gt;$15bn </a:t>
            </a:r>
            <a:r>
              <a:rPr lang="en-US" sz="8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invested in silicon photonics in ~1 year → POET, as an independent, is a natural target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158</TotalTime>
  <Words>535</Words>
  <Application>Microsoft Office PowerPoint</Application>
  <PresentationFormat>Grand écran</PresentationFormat>
  <Paragraphs>46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</vt:lpstr>
      <vt:lpstr>Office Theme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Nathan HAYAT</cp:lastModifiedBy>
  <cp:revision>6</cp:revision>
  <cp:lastPrinted>2026-09-09T14:30:00Z</cp:lastPrinted>
  <dcterms:created xsi:type="dcterms:W3CDTF">2026-09-09T07:28:56Z</dcterms:created>
  <dcterms:modified xsi:type="dcterms:W3CDTF">2026-09-16T09:25:59Z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655f49b-f386-464e-9d79-a4dbc25cf294_Enabled">
    <vt:lpwstr>true</vt:lpwstr>
  </property>
  <property fmtid="{D5CDD505-2E9C-101B-9397-08002B2CF9AE}" pid="3" name="MSIP_Label_8655f49b-f386-464e-9d79-a4dbc25cf294_SetDate">
    <vt:lpwstr>2026-09-09T07:38:47Z</vt:lpwstr>
  </property>
  <property fmtid="{D5CDD505-2E9C-101B-9397-08002B2CF9AE}" pid="4" name="MSIP_Label_8655f49b-f386-464e-9d79-a4dbc25cf294_Method">
    <vt:lpwstr>Standard</vt:lpwstr>
  </property>
  <property fmtid="{D5CDD505-2E9C-101B-9397-08002B2CF9AE}" pid="5" name="MSIP_Label_8655f49b-f386-464e-9d79-a4dbc25cf294_Name">
    <vt:lpwstr>Public</vt:lpwstr>
  </property>
  <property fmtid="{D5CDD505-2E9C-101B-9397-08002B2CF9AE}" pid="6" name="MSIP_Label_8655f49b-f386-464e-9d79-a4dbc25cf294_SiteId">
    <vt:lpwstr>45a92017-8aae-4838-aa24-69cce8730b5f</vt:lpwstr>
  </property>
  <property fmtid="{D5CDD505-2E9C-101B-9397-08002B2CF9AE}" pid="7" name="MSIP_Label_8655f49b-f386-464e-9d79-a4dbc25cf294_ActionId">
    <vt:lpwstr>05d72017-03d3-440b-8f78-49c88b33b50c</vt:lpwstr>
  </property>
  <property fmtid="{D5CDD505-2E9C-101B-9397-08002B2CF9AE}" pid="8" name="MSIP_Label_8655f49b-f386-464e-9d79-a4dbc25cf294_ContentBits">
    <vt:lpwstr>0</vt:lpwstr>
  </property>
  <property fmtid="{D5CDD505-2E9C-101B-9397-08002B2CF9AE}" pid="9" name="MSIP_Label_8655f49b-f386-464e-9d79-a4dbc25cf294_Tag">
    <vt:lpwstr>10, 3, 0, 1</vt:lpwstr>
  </property>
</Properties>
</file>